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1"/>
  </p:notesMasterIdLst>
  <p:handoutMasterIdLst>
    <p:handoutMasterId r:id="rId22"/>
  </p:handoutMasterIdLst>
  <p:sldIdLst>
    <p:sldId id="275" r:id="rId2"/>
    <p:sldId id="257" r:id="rId3"/>
    <p:sldId id="303" r:id="rId4"/>
    <p:sldId id="309" r:id="rId5"/>
    <p:sldId id="310" r:id="rId6"/>
    <p:sldId id="311" r:id="rId7"/>
    <p:sldId id="304" r:id="rId8"/>
    <p:sldId id="319" r:id="rId9"/>
    <p:sldId id="312" r:id="rId10"/>
    <p:sldId id="313" r:id="rId11"/>
    <p:sldId id="314" r:id="rId12"/>
    <p:sldId id="318" r:id="rId13"/>
    <p:sldId id="305" r:id="rId14"/>
    <p:sldId id="315" r:id="rId15"/>
    <p:sldId id="316" r:id="rId16"/>
    <p:sldId id="317" r:id="rId17"/>
    <p:sldId id="307" r:id="rId18"/>
    <p:sldId id="30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107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9/29/2026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9/29/2026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9/29/2026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9/29/2026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9/29/2026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3938540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9/29/2026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9/29/2026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629018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9/29/2026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9/29/2026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83" r:id="rId4"/>
    <p:sldLayoutId id="2147483679" r:id="rId5"/>
    <p:sldLayoutId id="2147483680" r:id="rId6"/>
    <p:sldLayoutId id="2147483681" r:id="rId7"/>
    <p:sldLayoutId id="2147483682" r:id="rId8"/>
    <p:sldLayoutId id="214748367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930377"/>
            <a:ext cx="8095988" cy="3274489"/>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a:t>Light RAG vs Microsoft Graph RAG</a:t>
            </a:r>
            <a:endParaRPr lang="en-US"/>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6819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sz="2800" b="0"/>
          </a:p>
          <a:p>
            <a:endParaRPr lang="en-US" sz="2800" b="0"/>
          </a:p>
        </p:txBody>
      </p:sp>
    </p:spTree>
    <p:extLst>
      <p:ext uri="{BB962C8B-B14F-4D97-AF65-F5344CB8AC3E}">
        <p14:creationId xmlns:p14="http://schemas.microsoft.com/office/powerpoint/2010/main" val="74317291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AE88F-9AA6-13A5-4F32-464E5C922F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39959F-1C3A-7AD9-3228-37B60196FE0C}"/>
              </a:ext>
            </a:extLst>
          </p:cNvPr>
          <p:cNvSpPr>
            <a:spLocks noGrp="1"/>
          </p:cNvSpPr>
          <p:nvPr>
            <p:ph type="sldNum" sz="quarter" idx="12"/>
          </p:nvPr>
        </p:nvSpPr>
        <p:spPr/>
        <p:txBody>
          <a:bodyPr/>
          <a:lstStyle/>
          <a:p>
            <a:fld id="{9EA0BE3B-158A-4EDF-80DC-E394A0D1600F}" type="slidenum">
              <a:rPr lang="en-US" smtClean="0"/>
              <a:pPr/>
              <a:t>3</a:t>
            </a:fld>
            <a:endParaRPr lang="en-US"/>
          </a:p>
        </p:txBody>
      </p:sp>
      <p:sp>
        <p:nvSpPr>
          <p:cNvPr id="3" name="Title 2">
            <a:extLst>
              <a:ext uri="{FF2B5EF4-FFF2-40B4-BE49-F238E27FC236}">
                <a16:creationId xmlns:a16="http://schemas.microsoft.com/office/drawing/2014/main" id="{C5363C9B-EC54-AABA-8AA9-CB62C4C40022}"/>
              </a:ext>
            </a:extLst>
          </p:cNvPr>
          <p:cNvSpPr>
            <a:spLocks noGrp="1"/>
          </p:cNvSpPr>
          <p:nvPr>
            <p:ph type="title"/>
          </p:nvPr>
        </p:nvSpPr>
        <p:spPr/>
        <p:txBody>
          <a:bodyPr/>
          <a:lstStyle/>
          <a:p>
            <a:r>
              <a:rPr lang="vi-VN" sz="2000"/>
              <a:t>Microsoft style Graph RAG – Phase 1 -</a:t>
            </a:r>
            <a:r>
              <a:rPr lang="en-US" sz="2000"/>
              <a:t> BUILD KNOWLEDGE GRAPH</a:t>
            </a:r>
          </a:p>
        </p:txBody>
      </p:sp>
      <p:sp>
        <p:nvSpPr>
          <p:cNvPr id="4" name="TextBox 3">
            <a:extLst>
              <a:ext uri="{FF2B5EF4-FFF2-40B4-BE49-F238E27FC236}">
                <a16:creationId xmlns:a16="http://schemas.microsoft.com/office/drawing/2014/main" id="{24CD6FAE-231F-FBCD-6FC3-16D82AD6B5B8}"/>
              </a:ext>
            </a:extLst>
          </p:cNvPr>
          <p:cNvSpPr txBox="1"/>
          <p:nvPr/>
        </p:nvSpPr>
        <p:spPr>
          <a:xfrm>
            <a:off x="235077" y="1963024"/>
            <a:ext cx="3170853" cy="3416320"/>
          </a:xfrm>
          <a:prstGeom prst="rect">
            <a:avLst/>
          </a:prstGeom>
          <a:noFill/>
        </p:spPr>
        <p:txBody>
          <a:bodyPr wrap="square" rtlCol="0">
            <a:spAutoFit/>
          </a:bodyPr>
          <a:lstStyle/>
          <a:p>
            <a:r>
              <a:rPr lang="en-US"/>
              <a:t>Đọc toàn bộ tài liệu đầu vào và chia thành các Chunk</a:t>
            </a:r>
            <a:endParaRPr lang="vi-VN"/>
          </a:p>
          <a:p>
            <a:r>
              <a:rPr lang="en-US"/>
              <a:t>Kiểm tra Chunk đã được xử lý trước đó hay chưa để tránh gọi LLM trùng lặp. </a:t>
            </a:r>
            <a:endParaRPr lang="vi-VN"/>
          </a:p>
          <a:p>
            <a:r>
              <a:rPr lang="en-US"/>
              <a:t>Với Chunk chưa xử lý, sử dụng Qwen3:8B để Extract: - Entities – Relations</a:t>
            </a:r>
            <a:endParaRPr lang="vi-VN"/>
          </a:p>
          <a:p>
            <a:r>
              <a:rPr lang="en-US"/>
              <a:t>Kết quả Extraction được lưu vào Cache để có thể tái sử dụng.</a:t>
            </a:r>
            <a:endParaRPr lang="vi-VN"/>
          </a:p>
          <a:p>
            <a:r>
              <a:rPr lang="en-US"/>
              <a:t>Kết quả cuối cùng là Raw Knowledge Graph</a:t>
            </a:r>
            <a:endParaRPr lang="vi-VN"/>
          </a:p>
        </p:txBody>
      </p:sp>
      <p:sp>
        <p:nvSpPr>
          <p:cNvPr id="5" name="TextBox 4">
            <a:extLst>
              <a:ext uri="{FF2B5EF4-FFF2-40B4-BE49-F238E27FC236}">
                <a16:creationId xmlns:a16="http://schemas.microsoft.com/office/drawing/2014/main" id="{E21EB14D-DD90-A7EE-B335-B0A5F3BA8BFD}"/>
              </a:ext>
            </a:extLst>
          </p:cNvPr>
          <p:cNvSpPr txBox="1"/>
          <p:nvPr/>
        </p:nvSpPr>
        <p:spPr>
          <a:xfrm>
            <a:off x="461394" y="1291905"/>
            <a:ext cx="184731" cy="369332"/>
          </a:xfrm>
          <a:prstGeom prst="rect">
            <a:avLst/>
          </a:prstGeom>
          <a:noFill/>
        </p:spPr>
        <p:txBody>
          <a:bodyPr wrap="none" rtlCol="0">
            <a:spAutoFit/>
          </a:bodyPr>
          <a:lstStyle/>
          <a:p>
            <a:endParaRPr lang="en-US"/>
          </a:p>
        </p:txBody>
      </p:sp>
      <p:pic>
        <p:nvPicPr>
          <p:cNvPr id="7" name="Picture 6">
            <a:extLst>
              <a:ext uri="{FF2B5EF4-FFF2-40B4-BE49-F238E27FC236}">
                <a16:creationId xmlns:a16="http://schemas.microsoft.com/office/drawing/2014/main" id="{EA623462-BC6A-0DEA-6AEC-749C8439B497}"/>
              </a:ext>
            </a:extLst>
          </p:cNvPr>
          <p:cNvPicPr>
            <a:picLocks noChangeAspect="1"/>
          </p:cNvPicPr>
          <p:nvPr/>
        </p:nvPicPr>
        <p:blipFill>
          <a:blip r:embed="rId2"/>
          <a:stretch>
            <a:fillRect/>
          </a:stretch>
        </p:blipFill>
        <p:spPr>
          <a:xfrm>
            <a:off x="5000011" y="549458"/>
            <a:ext cx="2508136" cy="6266597"/>
          </a:xfrm>
          <a:prstGeom prst="rect">
            <a:avLst/>
          </a:prstGeom>
        </p:spPr>
      </p:pic>
    </p:spTree>
    <p:extLst>
      <p:ext uri="{BB962C8B-B14F-4D97-AF65-F5344CB8AC3E}">
        <p14:creationId xmlns:p14="http://schemas.microsoft.com/office/powerpoint/2010/main" val="247351636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433E2-9DC6-3524-B76A-D97D93C6F48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9AB28F-3FAA-F70D-174F-F979CFBDFBFA}"/>
              </a:ext>
            </a:extLst>
          </p:cNvPr>
          <p:cNvSpPr>
            <a:spLocks noGrp="1"/>
          </p:cNvSpPr>
          <p:nvPr>
            <p:ph type="sldNum" sz="quarter" idx="12"/>
          </p:nvPr>
        </p:nvSpPr>
        <p:spPr/>
        <p:txBody>
          <a:bodyPr/>
          <a:lstStyle/>
          <a:p>
            <a:fld id="{9EA0BE3B-158A-4EDF-80DC-E394A0D1600F}" type="slidenum">
              <a:rPr lang="en-US" smtClean="0"/>
              <a:pPr/>
              <a:t>4</a:t>
            </a:fld>
            <a:endParaRPr lang="en-US"/>
          </a:p>
        </p:txBody>
      </p:sp>
      <p:sp>
        <p:nvSpPr>
          <p:cNvPr id="3" name="Title 2">
            <a:extLst>
              <a:ext uri="{FF2B5EF4-FFF2-40B4-BE49-F238E27FC236}">
                <a16:creationId xmlns:a16="http://schemas.microsoft.com/office/drawing/2014/main" id="{5D366142-3CBA-6EF9-3AEB-891AFF493908}"/>
              </a:ext>
            </a:extLst>
          </p:cNvPr>
          <p:cNvSpPr>
            <a:spLocks noGrp="1"/>
          </p:cNvSpPr>
          <p:nvPr>
            <p:ph type="title"/>
          </p:nvPr>
        </p:nvSpPr>
        <p:spPr/>
        <p:txBody>
          <a:bodyPr/>
          <a:lstStyle/>
          <a:p>
            <a:r>
              <a:rPr lang="vi-VN" sz="2400"/>
              <a:t>Microsoft style Graph RAG – Phase 2 – entity resolution</a:t>
            </a:r>
            <a:endParaRPr lang="en-US" sz="2400"/>
          </a:p>
        </p:txBody>
      </p:sp>
      <p:sp>
        <p:nvSpPr>
          <p:cNvPr id="4" name="TextBox 3">
            <a:extLst>
              <a:ext uri="{FF2B5EF4-FFF2-40B4-BE49-F238E27FC236}">
                <a16:creationId xmlns:a16="http://schemas.microsoft.com/office/drawing/2014/main" id="{508706FA-3453-88B4-78D6-D8AF0CA1B856}"/>
              </a:ext>
            </a:extLst>
          </p:cNvPr>
          <p:cNvSpPr txBox="1"/>
          <p:nvPr/>
        </p:nvSpPr>
        <p:spPr>
          <a:xfrm>
            <a:off x="553759" y="907108"/>
            <a:ext cx="3170853" cy="3539430"/>
          </a:xfrm>
          <a:prstGeom prst="rect">
            <a:avLst/>
          </a:prstGeom>
          <a:noFill/>
        </p:spPr>
        <p:txBody>
          <a:bodyPr wrap="square" rtlCol="0">
            <a:spAutoFit/>
          </a:bodyPr>
          <a:lstStyle/>
          <a:p>
            <a:pPr marL="342900" indent="-342900">
              <a:buAutoNum type="arabicPeriod"/>
            </a:pPr>
            <a:r>
              <a:rPr lang="en-US" sz="1600">
                <a:latin typeface="Times New Roman" panose="02020603050405020304" pitchFamily="18" charset="0"/>
                <a:cs typeface="Times New Roman" panose="02020603050405020304" pitchFamily="18" charset="0"/>
              </a:rPr>
              <a:t>Alias Evidence </a:t>
            </a:r>
            <a:endParaRPr lang="vi-VN" sz="1600">
              <a:latin typeface="Times New Roman" panose="02020603050405020304" pitchFamily="18" charset="0"/>
              <a:cs typeface="Times New Roman" panose="02020603050405020304" pitchFamily="18" charset="0"/>
            </a:endParaRPr>
          </a:p>
          <a:p>
            <a:r>
              <a:rPr lang="vi-VN" sz="1600">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 Tìm các dấu hiệu trực tiếp trong text như: “còn gọi là”, “tức là”, “húy là”, ... </a:t>
            </a:r>
            <a:endParaRPr lang="vi-VN"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 </a:t>
            </a:r>
            <a:r>
              <a:rPr lang="vi-VN" sz="1600">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Nếu có bằng chứng rõ ràng</a:t>
            </a:r>
            <a:r>
              <a:rPr lang="vi-VN" sz="1600">
                <a:latin typeface="Times New Roman" panose="02020603050405020304" pitchFamily="18" charset="0"/>
                <a:cs typeface="Times New Roman" panose="02020603050405020304" pitchFamily="18" charset="0"/>
              </a:rPr>
              <a:t> thì mark same_as ngay</a:t>
            </a:r>
          </a:p>
          <a:p>
            <a:r>
              <a:rPr lang="vi-VN" sz="1600">
                <a:latin typeface="Times New Roman" panose="02020603050405020304" pitchFamily="18" charset="0"/>
                <a:cs typeface="Times New Roman" panose="02020603050405020304" pitchFamily="18" charset="0"/>
              </a:rPr>
              <a:t>2. R</a:t>
            </a:r>
            <a:r>
              <a:rPr lang="en-US" sz="1600">
                <a:latin typeface="Times New Roman" panose="02020603050405020304" pitchFamily="18" charset="0"/>
                <a:cs typeface="Times New Roman" panose="02020603050405020304" pitchFamily="18" charset="0"/>
              </a:rPr>
              <a:t>elation Evidence  </a:t>
            </a:r>
            <a:endParaRPr lang="vi-VN" sz="1600">
              <a:latin typeface="Times New Roman" panose="02020603050405020304" pitchFamily="18" charset="0"/>
              <a:cs typeface="Times New Roman" panose="02020603050405020304" pitchFamily="18" charset="0"/>
            </a:endParaRPr>
          </a:p>
          <a:p>
            <a:r>
              <a:rPr lang="vi-VN" sz="1600">
                <a:latin typeface="Times New Roman" panose="02020603050405020304" pitchFamily="18" charset="0"/>
                <a:cs typeface="Times New Roman" panose="02020603050405020304" pitchFamily="18" charset="0"/>
              </a:rPr>
              <a:t>	- Loại </a:t>
            </a:r>
            <a:r>
              <a:rPr lang="en-US" sz="1600">
                <a:latin typeface="Times New Roman" panose="02020603050405020304" pitchFamily="18" charset="0"/>
                <a:cs typeface="Times New Roman" panose="02020603050405020304" pitchFamily="18" charset="0"/>
              </a:rPr>
              <a:t>Negative Relation như “anh em”, “cha của”</a:t>
            </a:r>
            <a:endParaRPr lang="vi-VN" sz="1600">
              <a:latin typeface="Times New Roman" panose="02020603050405020304" pitchFamily="18" charset="0"/>
              <a:cs typeface="Times New Roman" panose="02020603050405020304" pitchFamily="18" charset="0"/>
            </a:endParaRPr>
          </a:p>
          <a:p>
            <a:r>
              <a:rPr lang="vi-VN" sz="1600">
                <a:latin typeface="Times New Roman" panose="02020603050405020304" pitchFamily="18" charset="0"/>
                <a:cs typeface="Times New Roman" panose="02020603050405020304" pitchFamily="18" charset="0"/>
              </a:rPr>
              <a:t>3. </a:t>
            </a:r>
            <a:r>
              <a:rPr lang="en-US" sz="1600">
                <a:latin typeface="Times New Roman" panose="02020603050405020304" pitchFamily="18" charset="0"/>
                <a:cs typeface="Times New Roman" panose="02020603050405020304" pitchFamily="18" charset="0"/>
              </a:rPr>
              <a:t>LLM Verification</a:t>
            </a:r>
            <a:endParaRPr lang="vi-VN" sz="1600">
              <a:latin typeface="Times New Roman" panose="02020603050405020304" pitchFamily="18" charset="0"/>
              <a:cs typeface="Times New Roman" panose="02020603050405020304" pitchFamily="18" charset="0"/>
            </a:endParaRPr>
          </a:p>
          <a:p>
            <a:r>
              <a:rPr lang="vi-VN" sz="1600">
                <a:latin typeface="Times New Roman" panose="02020603050405020304" pitchFamily="18" charset="0"/>
                <a:cs typeface="Times New Roman" panose="02020603050405020304" pitchFamily="18" charset="0"/>
              </a:rPr>
              <a:t>	- Sử dụng LLM</a:t>
            </a:r>
            <a:r>
              <a:rPr lang="en-US" sz="1600">
                <a:latin typeface="Times New Roman" panose="02020603050405020304" pitchFamily="18" charset="0"/>
                <a:cs typeface="Times New Roman" panose="02020603050405020304" pitchFamily="18" charset="0"/>
              </a:rPr>
              <a:t> để kiểm tra </a:t>
            </a:r>
            <a:r>
              <a:rPr lang="vi-VN" sz="1600">
                <a:latin typeface="Times New Roman" panose="02020603050405020304" pitchFamily="18" charset="0"/>
                <a:cs typeface="Times New Roman" panose="02020603050405020304" pitchFamily="18" charset="0"/>
              </a:rPr>
              <a:t>Bằng chứng</a:t>
            </a:r>
            <a:r>
              <a:rPr lang="en-US" sz="1600">
                <a:latin typeface="Times New Roman" panose="02020603050405020304" pitchFamily="18" charset="0"/>
                <a:cs typeface="Times New Roman" panose="02020603050405020304" pitchFamily="18" charset="0"/>
              </a:rPr>
              <a:t> trong </a:t>
            </a:r>
            <a:r>
              <a:rPr lang="vi-VN" sz="1600">
                <a:latin typeface="Times New Roman" panose="02020603050405020304" pitchFamily="18" charset="0"/>
                <a:cs typeface="Times New Roman" panose="02020603050405020304" pitchFamily="18" charset="0"/>
              </a:rPr>
              <a:t>Context, đủ bằng chứng mark same_as luôn</a:t>
            </a:r>
          </a:p>
          <a:p>
            <a:pPr marL="342900" indent="-342900">
              <a:buAutoNum type="arabicPeriod"/>
            </a:pPr>
            <a:endParaRPr lang="vi-VN" sz="160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4562460-DAA5-580A-5C6A-FADC2D45851C}"/>
              </a:ext>
            </a:extLst>
          </p:cNvPr>
          <p:cNvSpPr txBox="1"/>
          <p:nvPr/>
        </p:nvSpPr>
        <p:spPr>
          <a:xfrm>
            <a:off x="461394" y="1291905"/>
            <a:ext cx="184731" cy="369332"/>
          </a:xfrm>
          <a:prstGeom prst="rect">
            <a:avLst/>
          </a:prstGeom>
          <a:noFill/>
        </p:spPr>
        <p:txBody>
          <a:bodyPr wrap="none" rtlCol="0">
            <a:spAutoFit/>
          </a:bodyPr>
          <a:lstStyle/>
          <a:p>
            <a:endParaRPr lang="en-US"/>
          </a:p>
        </p:txBody>
      </p:sp>
      <p:pic>
        <p:nvPicPr>
          <p:cNvPr id="7" name="Picture 6">
            <a:extLst>
              <a:ext uri="{FF2B5EF4-FFF2-40B4-BE49-F238E27FC236}">
                <a16:creationId xmlns:a16="http://schemas.microsoft.com/office/drawing/2014/main" id="{80CF087B-8B21-CC80-945F-F6CF6CD0DC24}"/>
              </a:ext>
            </a:extLst>
          </p:cNvPr>
          <p:cNvPicPr>
            <a:picLocks noChangeAspect="1"/>
          </p:cNvPicPr>
          <p:nvPr/>
        </p:nvPicPr>
        <p:blipFill>
          <a:blip r:embed="rId2"/>
          <a:stretch>
            <a:fillRect/>
          </a:stretch>
        </p:blipFill>
        <p:spPr>
          <a:xfrm>
            <a:off x="4070932" y="775637"/>
            <a:ext cx="4133674" cy="5664236"/>
          </a:xfrm>
          <a:prstGeom prst="rect">
            <a:avLst/>
          </a:prstGeom>
        </p:spPr>
      </p:pic>
      <p:sp>
        <p:nvSpPr>
          <p:cNvPr id="9" name="TextBox 8">
            <a:extLst>
              <a:ext uri="{FF2B5EF4-FFF2-40B4-BE49-F238E27FC236}">
                <a16:creationId xmlns:a16="http://schemas.microsoft.com/office/drawing/2014/main" id="{CAE6DE5D-79E0-ACB0-60A4-2CB5D20F4EB8}"/>
              </a:ext>
            </a:extLst>
          </p:cNvPr>
          <p:cNvSpPr txBox="1"/>
          <p:nvPr/>
        </p:nvSpPr>
        <p:spPr>
          <a:xfrm>
            <a:off x="235077" y="4446538"/>
            <a:ext cx="3959418" cy="1569660"/>
          </a:xfrm>
          <a:prstGeom prst="rect">
            <a:avLst/>
          </a:prstGeom>
          <a:noFill/>
        </p:spPr>
        <p:txBody>
          <a:bodyPr wrap="square">
            <a:spAutoFit/>
          </a:bodyPr>
          <a:lstStyle/>
          <a:p>
            <a:r>
              <a:rPr lang="en-US" sz="1600">
                <a:latin typeface="Time s New Roman"/>
              </a:rPr>
              <a:t>Khi Merge: </a:t>
            </a:r>
            <a:endParaRPr lang="vi-VN" sz="1600">
              <a:latin typeface="Time s New Roman"/>
            </a:endParaRPr>
          </a:p>
          <a:p>
            <a:pPr marL="285750" indent="-285750">
              <a:buFontTx/>
              <a:buChar char="-"/>
            </a:pPr>
            <a:r>
              <a:rPr lang="en-US" sz="1600">
                <a:latin typeface="Time s New Roman"/>
              </a:rPr>
              <a:t>Chọn một Canonical Entity. </a:t>
            </a:r>
            <a:endParaRPr lang="vi-VN" sz="1600">
              <a:latin typeface="Time s New Roman"/>
            </a:endParaRPr>
          </a:p>
          <a:p>
            <a:pPr marL="285750" indent="-285750">
              <a:buFontTx/>
              <a:buChar char="-"/>
            </a:pPr>
            <a:r>
              <a:rPr lang="en-US" sz="1600">
                <a:latin typeface="Time s New Roman"/>
              </a:rPr>
              <a:t>Các Entity trùng được gán cùng cluster_id. </a:t>
            </a:r>
            <a:endParaRPr lang="vi-VN" sz="1600">
              <a:latin typeface="Time s New Roman"/>
            </a:endParaRPr>
          </a:p>
          <a:p>
            <a:pPr marL="285750" indent="-285750">
              <a:buFontTx/>
              <a:buChar char="-"/>
            </a:pPr>
            <a:r>
              <a:rPr lang="en-US" sz="1600">
                <a:latin typeface="Time s New Roman"/>
              </a:rPr>
              <a:t>Tạo quan hệ SAME_AS. </a:t>
            </a:r>
            <a:endParaRPr lang="vi-VN" sz="1600">
              <a:latin typeface="Time s New Roman"/>
            </a:endParaRPr>
          </a:p>
          <a:p>
            <a:pPr marL="285750" indent="-285750">
              <a:buFontTx/>
              <a:buChar char="-"/>
            </a:pPr>
            <a:r>
              <a:rPr lang="en-US" sz="1600">
                <a:latin typeface="Time s New Roman"/>
              </a:rPr>
              <a:t>Đánh dấu is_canonical để xác định Entity đại diện.</a:t>
            </a:r>
          </a:p>
        </p:txBody>
      </p:sp>
    </p:spTree>
    <p:extLst>
      <p:ext uri="{BB962C8B-B14F-4D97-AF65-F5344CB8AC3E}">
        <p14:creationId xmlns:p14="http://schemas.microsoft.com/office/powerpoint/2010/main" val="240616185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4A3F-D5AA-5390-9434-2D6D3FFCA8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E7FFF7-1313-E238-4CE5-6CE98B7363A9}"/>
              </a:ext>
            </a:extLst>
          </p:cNvPr>
          <p:cNvSpPr>
            <a:spLocks noGrp="1"/>
          </p:cNvSpPr>
          <p:nvPr>
            <p:ph type="sldNum" sz="quarter" idx="12"/>
          </p:nvPr>
        </p:nvSpPr>
        <p:spPr/>
        <p:txBody>
          <a:bodyPr/>
          <a:lstStyle/>
          <a:p>
            <a:fld id="{9EA0BE3B-158A-4EDF-80DC-E394A0D1600F}" type="slidenum">
              <a:rPr lang="en-US" smtClean="0"/>
              <a:pPr/>
              <a:t>5</a:t>
            </a:fld>
            <a:endParaRPr lang="en-US"/>
          </a:p>
        </p:txBody>
      </p:sp>
      <p:sp>
        <p:nvSpPr>
          <p:cNvPr id="3" name="Title 2">
            <a:extLst>
              <a:ext uri="{FF2B5EF4-FFF2-40B4-BE49-F238E27FC236}">
                <a16:creationId xmlns:a16="http://schemas.microsoft.com/office/drawing/2014/main" id="{1429D2DC-1060-1598-F514-5165E3AF785F}"/>
              </a:ext>
            </a:extLst>
          </p:cNvPr>
          <p:cNvSpPr>
            <a:spLocks noGrp="1"/>
          </p:cNvSpPr>
          <p:nvPr>
            <p:ph type="title"/>
          </p:nvPr>
        </p:nvSpPr>
        <p:spPr/>
        <p:txBody>
          <a:bodyPr/>
          <a:lstStyle/>
          <a:p>
            <a:r>
              <a:rPr lang="vi-VN" sz="2400"/>
              <a:t>Microsoft style Graph RAG – Phase 3 – </a:t>
            </a:r>
            <a:r>
              <a:rPr lang="en-US" sz="2400"/>
              <a:t>GLOBAL SUMMARY</a:t>
            </a:r>
          </a:p>
        </p:txBody>
      </p:sp>
      <p:sp>
        <p:nvSpPr>
          <p:cNvPr id="4" name="TextBox 3">
            <a:extLst>
              <a:ext uri="{FF2B5EF4-FFF2-40B4-BE49-F238E27FC236}">
                <a16:creationId xmlns:a16="http://schemas.microsoft.com/office/drawing/2014/main" id="{B3410372-9580-2AA0-3C79-AF88FAA4B2CC}"/>
              </a:ext>
            </a:extLst>
          </p:cNvPr>
          <p:cNvSpPr txBox="1"/>
          <p:nvPr/>
        </p:nvSpPr>
        <p:spPr>
          <a:xfrm>
            <a:off x="720826" y="1028343"/>
            <a:ext cx="4320957" cy="5355312"/>
          </a:xfrm>
          <a:prstGeom prst="rect">
            <a:avLst/>
          </a:prstGeom>
          <a:noFill/>
        </p:spPr>
        <p:txBody>
          <a:bodyPr wrap="square" rtlCol="0">
            <a:spAutoFit/>
          </a:bodyPr>
          <a:lstStyle/>
          <a:p>
            <a:r>
              <a:rPr lang="vi-VN"/>
              <a:t>	- </a:t>
            </a:r>
            <a:r>
              <a:rPr lang="en-US"/>
              <a:t>Sử dụng Resolved Knowledge Graph làm đầu vào. </a:t>
            </a:r>
            <a:endParaRPr lang="vi-VN"/>
          </a:p>
          <a:p>
            <a:r>
              <a:rPr lang="vi-VN"/>
              <a:t>	- </a:t>
            </a:r>
            <a:r>
              <a:rPr lang="en-US"/>
              <a:t>Thực hiện Community Detection bằng Graph Data Science (GDS) để phát hiện các nhóm Entity có liên kết chặt chẽ với nhau. </a:t>
            </a:r>
            <a:endParaRPr lang="vi-VN"/>
          </a:p>
          <a:p>
            <a:r>
              <a:rPr lang="vi-VN"/>
              <a:t>	-</a:t>
            </a:r>
            <a:r>
              <a:rPr lang="en-US"/>
              <a:t> Mỗi Community đại diện cho một nhóm chủ đề / nhóm Entity có nhiều mối quan hệ trong Knowledge Graph. </a:t>
            </a:r>
            <a:endParaRPr lang="vi-VN"/>
          </a:p>
          <a:p>
            <a:r>
              <a:rPr lang="vi-VN"/>
              <a:t>	</a:t>
            </a:r>
            <a:r>
              <a:rPr lang="en-US"/>
              <a:t>- Sử dụng </a:t>
            </a:r>
            <a:r>
              <a:rPr lang="vi-VN"/>
              <a:t>LLM</a:t>
            </a:r>
            <a:r>
              <a:rPr lang="en-US"/>
              <a:t> để tạo Community Summary. </a:t>
            </a:r>
            <a:endParaRPr lang="vi-VN"/>
          </a:p>
          <a:p>
            <a:r>
              <a:rPr lang="en-US"/>
              <a:t> </a:t>
            </a:r>
            <a:r>
              <a:rPr lang="vi-VN"/>
              <a:t>	-</a:t>
            </a:r>
            <a:r>
              <a:rPr lang="en-US"/>
              <a:t>Các Summary được lưu vào Cache để tái sử dụng, không cần gọi LLM lại ở mỗi Query.  </a:t>
            </a:r>
            <a:endParaRPr lang="vi-VN"/>
          </a:p>
          <a:p>
            <a:r>
              <a:rPr lang="vi-VN"/>
              <a:t>	- vì phần này tốn nhiều token, nên em chỉ sử dụng khi query, tức là querry mà cần comunities, thì lúc đấy em mới chạy cái community detection để trả lời, thay vì xác định hết mọi token ngay từ đầu</a:t>
            </a:r>
          </a:p>
        </p:txBody>
      </p:sp>
      <p:sp>
        <p:nvSpPr>
          <p:cNvPr id="5" name="TextBox 4">
            <a:extLst>
              <a:ext uri="{FF2B5EF4-FFF2-40B4-BE49-F238E27FC236}">
                <a16:creationId xmlns:a16="http://schemas.microsoft.com/office/drawing/2014/main" id="{70DE16F0-C11B-BDDE-E21F-2376C764AC02}"/>
              </a:ext>
            </a:extLst>
          </p:cNvPr>
          <p:cNvSpPr txBox="1"/>
          <p:nvPr/>
        </p:nvSpPr>
        <p:spPr>
          <a:xfrm>
            <a:off x="461394" y="1291905"/>
            <a:ext cx="184731" cy="369332"/>
          </a:xfrm>
          <a:prstGeom prst="rect">
            <a:avLst/>
          </a:prstGeom>
          <a:noFill/>
        </p:spPr>
        <p:txBody>
          <a:bodyPr wrap="none" rtlCol="0">
            <a:spAutoFit/>
          </a:bodyPr>
          <a:lstStyle/>
          <a:p>
            <a:endParaRPr lang="en-US"/>
          </a:p>
        </p:txBody>
      </p:sp>
      <p:pic>
        <p:nvPicPr>
          <p:cNvPr id="7" name="Picture 6">
            <a:extLst>
              <a:ext uri="{FF2B5EF4-FFF2-40B4-BE49-F238E27FC236}">
                <a16:creationId xmlns:a16="http://schemas.microsoft.com/office/drawing/2014/main" id="{7D1D8FEB-3AEB-42FE-F854-FC85B38F6166}"/>
              </a:ext>
            </a:extLst>
          </p:cNvPr>
          <p:cNvPicPr>
            <a:picLocks noChangeAspect="1"/>
          </p:cNvPicPr>
          <p:nvPr/>
        </p:nvPicPr>
        <p:blipFill>
          <a:blip r:embed="rId2"/>
          <a:stretch>
            <a:fillRect/>
          </a:stretch>
        </p:blipFill>
        <p:spPr>
          <a:xfrm>
            <a:off x="5252322" y="830355"/>
            <a:ext cx="2179509" cy="5197290"/>
          </a:xfrm>
          <a:prstGeom prst="rect">
            <a:avLst/>
          </a:prstGeom>
        </p:spPr>
      </p:pic>
    </p:spTree>
    <p:extLst>
      <p:ext uri="{BB962C8B-B14F-4D97-AF65-F5344CB8AC3E}">
        <p14:creationId xmlns:p14="http://schemas.microsoft.com/office/powerpoint/2010/main" val="301902131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DE2A3-65D8-8CFE-8B16-D1115C15F3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B366E4-B876-5EDF-C3FE-66C198147E68}"/>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3" name="Title 2">
            <a:extLst>
              <a:ext uri="{FF2B5EF4-FFF2-40B4-BE49-F238E27FC236}">
                <a16:creationId xmlns:a16="http://schemas.microsoft.com/office/drawing/2014/main" id="{95D30CAF-5FE6-7C43-35D8-B38536895E8D}"/>
              </a:ext>
            </a:extLst>
          </p:cNvPr>
          <p:cNvSpPr>
            <a:spLocks noGrp="1"/>
          </p:cNvSpPr>
          <p:nvPr>
            <p:ph type="title"/>
          </p:nvPr>
        </p:nvSpPr>
        <p:spPr/>
        <p:txBody>
          <a:bodyPr/>
          <a:lstStyle/>
          <a:p>
            <a:r>
              <a:rPr lang="vi-VN" sz="2400"/>
              <a:t>Microsoft style Graph RAG – Phase 4 – </a:t>
            </a:r>
            <a:r>
              <a:rPr lang="en-US" sz="2400"/>
              <a:t>RETRIEVAL</a:t>
            </a:r>
          </a:p>
        </p:txBody>
      </p:sp>
      <p:sp>
        <p:nvSpPr>
          <p:cNvPr id="4" name="TextBox 3">
            <a:extLst>
              <a:ext uri="{FF2B5EF4-FFF2-40B4-BE49-F238E27FC236}">
                <a16:creationId xmlns:a16="http://schemas.microsoft.com/office/drawing/2014/main" id="{12E3340B-E3F9-4A28-80C6-BC9F37FC57F4}"/>
              </a:ext>
            </a:extLst>
          </p:cNvPr>
          <p:cNvSpPr txBox="1"/>
          <p:nvPr/>
        </p:nvSpPr>
        <p:spPr>
          <a:xfrm>
            <a:off x="720826" y="1028343"/>
            <a:ext cx="3170853" cy="3693319"/>
          </a:xfrm>
          <a:prstGeom prst="rect">
            <a:avLst/>
          </a:prstGeom>
          <a:noFill/>
        </p:spPr>
        <p:txBody>
          <a:bodyPr wrap="square" rtlCol="0">
            <a:spAutoFit/>
          </a:bodyPr>
          <a:lstStyle/>
          <a:p>
            <a:r>
              <a:rPr lang="vi-VN"/>
              <a:t>	- </a:t>
            </a:r>
            <a:r>
              <a:rPr lang="en-US"/>
              <a:t>Nhận User Query.</a:t>
            </a:r>
            <a:endParaRPr lang="vi-VN"/>
          </a:p>
          <a:p>
            <a:r>
              <a:rPr lang="vi-VN"/>
              <a:t>	- </a:t>
            </a:r>
            <a:r>
              <a:rPr lang="en-US"/>
              <a:t>Sử dụng </a:t>
            </a:r>
            <a:r>
              <a:rPr lang="vi-VN"/>
              <a:t>LLM</a:t>
            </a:r>
            <a:r>
              <a:rPr lang="en-US"/>
              <a:t> để Extract Entity từ Query.</a:t>
            </a:r>
            <a:endParaRPr lang="vi-VN"/>
          </a:p>
          <a:p>
            <a:r>
              <a:rPr lang="vi-VN"/>
              <a:t>	-</a:t>
            </a:r>
            <a:r>
              <a:rPr lang="en-US"/>
              <a:t> Nếu xác định được Entity: </a:t>
            </a:r>
            <a:endParaRPr lang="vi-VN"/>
          </a:p>
          <a:p>
            <a:r>
              <a:rPr lang="en-US"/>
              <a:t>→ thực hiện Local Search trên Knowledge Graph. </a:t>
            </a:r>
            <a:endParaRPr lang="vi-VN"/>
          </a:p>
          <a:p>
            <a:r>
              <a:rPr lang="vi-VN"/>
              <a:t>	</a:t>
            </a:r>
            <a:r>
              <a:rPr lang="en-US"/>
              <a:t>- Nếu không xác định được Entity:</a:t>
            </a:r>
            <a:endParaRPr lang="vi-VN"/>
          </a:p>
          <a:p>
            <a:r>
              <a:rPr lang="en-US"/>
              <a:t>→</a:t>
            </a:r>
            <a:r>
              <a:rPr lang="vi-VN"/>
              <a:t>Fallback về </a:t>
            </a:r>
            <a:r>
              <a:rPr lang="en-US"/>
              <a:t>Global Search</a:t>
            </a:r>
            <a:endParaRPr lang="vi-VN"/>
          </a:p>
          <a:p>
            <a:r>
              <a:rPr lang="en-US"/>
              <a:t> </a:t>
            </a:r>
            <a:r>
              <a:rPr lang="vi-VN"/>
              <a:t>	-</a:t>
            </a:r>
            <a:r>
              <a:rPr lang="en-US"/>
              <a:t> Context được tổng hợp từ bước Retrieval</a:t>
            </a:r>
            <a:r>
              <a:rPr lang="vi-VN"/>
              <a:t> được đưa cho LLM trả lời</a:t>
            </a:r>
          </a:p>
        </p:txBody>
      </p:sp>
      <p:sp>
        <p:nvSpPr>
          <p:cNvPr id="5" name="TextBox 4">
            <a:extLst>
              <a:ext uri="{FF2B5EF4-FFF2-40B4-BE49-F238E27FC236}">
                <a16:creationId xmlns:a16="http://schemas.microsoft.com/office/drawing/2014/main" id="{E984468A-23E8-E929-22B7-B443C05C3A16}"/>
              </a:ext>
            </a:extLst>
          </p:cNvPr>
          <p:cNvSpPr txBox="1"/>
          <p:nvPr/>
        </p:nvSpPr>
        <p:spPr>
          <a:xfrm>
            <a:off x="461394" y="1291905"/>
            <a:ext cx="184731" cy="369332"/>
          </a:xfrm>
          <a:prstGeom prst="rect">
            <a:avLst/>
          </a:prstGeom>
          <a:noFill/>
        </p:spPr>
        <p:txBody>
          <a:bodyPr wrap="none" rtlCol="0">
            <a:spAutoFit/>
          </a:bodyPr>
          <a:lstStyle/>
          <a:p>
            <a:endParaRPr lang="en-US"/>
          </a:p>
        </p:txBody>
      </p:sp>
      <p:pic>
        <p:nvPicPr>
          <p:cNvPr id="8" name="Picture 7">
            <a:extLst>
              <a:ext uri="{FF2B5EF4-FFF2-40B4-BE49-F238E27FC236}">
                <a16:creationId xmlns:a16="http://schemas.microsoft.com/office/drawing/2014/main" id="{C5A78B16-C734-38F3-8310-BEF5EF562688}"/>
              </a:ext>
            </a:extLst>
          </p:cNvPr>
          <p:cNvPicPr>
            <a:picLocks noChangeAspect="1"/>
          </p:cNvPicPr>
          <p:nvPr/>
        </p:nvPicPr>
        <p:blipFill>
          <a:blip r:embed="rId2"/>
          <a:stretch>
            <a:fillRect/>
          </a:stretch>
        </p:blipFill>
        <p:spPr>
          <a:xfrm>
            <a:off x="4099192" y="704807"/>
            <a:ext cx="4323982" cy="5975455"/>
          </a:xfrm>
          <a:prstGeom prst="rect">
            <a:avLst/>
          </a:prstGeom>
        </p:spPr>
      </p:pic>
    </p:spTree>
    <p:extLst>
      <p:ext uri="{BB962C8B-B14F-4D97-AF65-F5344CB8AC3E}">
        <p14:creationId xmlns:p14="http://schemas.microsoft.com/office/powerpoint/2010/main" val="305213412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C9E5-D203-B875-2BDE-5BC4559E3F10}"/>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D7CD2F5-E22A-B1D6-3613-3C70E2E52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633" y="1517902"/>
            <a:ext cx="5409119" cy="4066674"/>
          </a:xfrm>
          <a:prstGeom prst="rect">
            <a:avLst/>
          </a:prstGeom>
        </p:spPr>
      </p:pic>
      <p:sp>
        <p:nvSpPr>
          <p:cNvPr id="2" name="Slide Number Placeholder 1">
            <a:extLst>
              <a:ext uri="{FF2B5EF4-FFF2-40B4-BE49-F238E27FC236}">
                <a16:creationId xmlns:a16="http://schemas.microsoft.com/office/drawing/2014/main" id="{9B86434F-D434-7500-28A4-EB86720C84F7}"/>
              </a:ext>
            </a:extLst>
          </p:cNvPr>
          <p:cNvSpPr>
            <a:spLocks noGrp="1"/>
          </p:cNvSpPr>
          <p:nvPr>
            <p:ph type="sldNum" sz="quarter" idx="12"/>
          </p:nvPr>
        </p:nvSpPr>
        <p:spPr/>
        <p:txBody>
          <a:bodyPr/>
          <a:lstStyle/>
          <a:p>
            <a:fld id="{9EA0BE3B-158A-4EDF-80DC-E394A0D1600F}" type="slidenum">
              <a:rPr lang="en-US" smtClean="0"/>
              <a:pPr/>
              <a:t>7</a:t>
            </a:fld>
            <a:endParaRPr lang="en-US"/>
          </a:p>
        </p:txBody>
      </p:sp>
      <p:sp>
        <p:nvSpPr>
          <p:cNvPr id="3" name="Title 2">
            <a:extLst>
              <a:ext uri="{FF2B5EF4-FFF2-40B4-BE49-F238E27FC236}">
                <a16:creationId xmlns:a16="http://schemas.microsoft.com/office/drawing/2014/main" id="{B94A512D-B359-8D74-7AE8-E58CC770379F}"/>
              </a:ext>
            </a:extLst>
          </p:cNvPr>
          <p:cNvSpPr>
            <a:spLocks noGrp="1"/>
          </p:cNvSpPr>
          <p:nvPr>
            <p:ph type="title"/>
          </p:nvPr>
        </p:nvSpPr>
        <p:spPr/>
        <p:txBody>
          <a:bodyPr/>
          <a:lstStyle/>
          <a:p>
            <a:r>
              <a:rPr lang="vi-VN"/>
              <a:t>Light RAG – Phase 1 -</a:t>
            </a:r>
            <a:r>
              <a:rPr lang="en-US"/>
              <a:t> </a:t>
            </a:r>
            <a:r>
              <a:rPr lang="vi-VN"/>
              <a:t>Overview</a:t>
            </a:r>
            <a:endParaRPr lang="en-US"/>
          </a:p>
        </p:txBody>
      </p:sp>
      <p:sp>
        <p:nvSpPr>
          <p:cNvPr id="6" name="TextBox 5">
            <a:extLst>
              <a:ext uri="{FF2B5EF4-FFF2-40B4-BE49-F238E27FC236}">
                <a16:creationId xmlns:a16="http://schemas.microsoft.com/office/drawing/2014/main" id="{D73FB8B7-E353-8FC8-503F-86ADF208D9CF}"/>
              </a:ext>
            </a:extLst>
          </p:cNvPr>
          <p:cNvSpPr txBox="1"/>
          <p:nvPr/>
        </p:nvSpPr>
        <p:spPr>
          <a:xfrm>
            <a:off x="0" y="1997839"/>
            <a:ext cx="3810000" cy="3693319"/>
          </a:xfrm>
          <a:prstGeom prst="rect">
            <a:avLst/>
          </a:prstGeom>
          <a:noFill/>
        </p:spPr>
        <p:txBody>
          <a:bodyPr wrap="square" rtlCol="0">
            <a:spAutoFit/>
          </a:bodyPr>
          <a:lstStyle/>
          <a:p>
            <a:pPr marL="285750" indent="-285750">
              <a:buFontTx/>
              <a:buChar char="-"/>
            </a:pPr>
            <a:r>
              <a:rPr lang="vi-VN"/>
              <a:t>LightRAG là một kiến trúc Graph RAG kết hợp:</a:t>
            </a:r>
          </a:p>
          <a:p>
            <a:pPr marL="742950" lvl="1" indent="-285750">
              <a:buFontTx/>
              <a:buChar char="-"/>
            </a:pPr>
            <a:r>
              <a:rPr lang="vi-VN"/>
              <a:t>Knowledge Graph: biểu diễn Entities và Relations.</a:t>
            </a:r>
          </a:p>
          <a:p>
            <a:pPr marL="742950" lvl="1" indent="-285750">
              <a:buFontTx/>
              <a:buChar char="-"/>
            </a:pPr>
            <a:r>
              <a:rPr lang="vi-VN"/>
              <a:t>Vector Embeddings: hỗ trợ Semantic Retrieval.</a:t>
            </a:r>
          </a:p>
          <a:p>
            <a:pPr marL="742950" lvl="1" indent="-285750">
              <a:buFontTx/>
              <a:buChar char="-"/>
            </a:pPr>
            <a:r>
              <a:rPr lang="vi-VN"/>
              <a:t>Local Search: truy xuất thông tin xoay quanh Entity cụ thể.</a:t>
            </a:r>
          </a:p>
          <a:p>
            <a:pPr marL="742950" lvl="1" indent="-285750">
              <a:buFontTx/>
              <a:buChar char="-"/>
            </a:pPr>
            <a:r>
              <a:rPr lang="vi-VN"/>
              <a:t>Global Search: truy xuất thông tin ở phạm vi rộng hơn.</a:t>
            </a:r>
          </a:p>
          <a:p>
            <a:pPr marL="285750" indent="-285750">
              <a:buFontTx/>
              <a:buChar char="-"/>
            </a:pPr>
            <a:endParaRPr lang="vi-VN"/>
          </a:p>
        </p:txBody>
      </p:sp>
    </p:spTree>
    <p:extLst>
      <p:ext uri="{BB962C8B-B14F-4D97-AF65-F5344CB8AC3E}">
        <p14:creationId xmlns:p14="http://schemas.microsoft.com/office/powerpoint/2010/main" val="412069159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3DAB8-5AA7-AEB8-F9F9-E1D5AD60E1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3D70C8-D2A3-9E00-5934-7394DBC61EED}"/>
              </a:ext>
            </a:extLst>
          </p:cNvPr>
          <p:cNvSpPr>
            <a:spLocks noGrp="1"/>
          </p:cNvSpPr>
          <p:nvPr>
            <p:ph type="sldNum" sz="quarter" idx="12"/>
          </p:nvPr>
        </p:nvSpPr>
        <p:spPr/>
        <p:txBody>
          <a:bodyPr/>
          <a:lstStyle/>
          <a:p>
            <a:fld id="{9EA0BE3B-158A-4EDF-80DC-E394A0D1600F}" type="slidenum">
              <a:rPr lang="en-US" smtClean="0"/>
              <a:pPr/>
              <a:t>8</a:t>
            </a:fld>
            <a:endParaRPr lang="en-US"/>
          </a:p>
        </p:txBody>
      </p:sp>
      <p:sp>
        <p:nvSpPr>
          <p:cNvPr id="3" name="Title 2">
            <a:extLst>
              <a:ext uri="{FF2B5EF4-FFF2-40B4-BE49-F238E27FC236}">
                <a16:creationId xmlns:a16="http://schemas.microsoft.com/office/drawing/2014/main" id="{D0337B36-7A00-5FF5-9FF5-AD6DCC8BD158}"/>
              </a:ext>
            </a:extLst>
          </p:cNvPr>
          <p:cNvSpPr>
            <a:spLocks noGrp="1"/>
          </p:cNvSpPr>
          <p:nvPr>
            <p:ph type="title"/>
          </p:nvPr>
        </p:nvSpPr>
        <p:spPr/>
        <p:txBody>
          <a:bodyPr/>
          <a:lstStyle/>
          <a:p>
            <a:r>
              <a:rPr lang="vi-VN"/>
              <a:t>Light RAG – Phase 1 -</a:t>
            </a:r>
            <a:r>
              <a:rPr lang="en-US"/>
              <a:t> INDEXING</a:t>
            </a:r>
          </a:p>
        </p:txBody>
      </p:sp>
      <p:sp>
        <p:nvSpPr>
          <p:cNvPr id="6" name="TextBox 5">
            <a:extLst>
              <a:ext uri="{FF2B5EF4-FFF2-40B4-BE49-F238E27FC236}">
                <a16:creationId xmlns:a16="http://schemas.microsoft.com/office/drawing/2014/main" id="{21F3AD05-F2CF-58AE-D7A8-254D6C81E7A6}"/>
              </a:ext>
            </a:extLst>
          </p:cNvPr>
          <p:cNvSpPr txBox="1"/>
          <p:nvPr/>
        </p:nvSpPr>
        <p:spPr>
          <a:xfrm>
            <a:off x="128337" y="933659"/>
            <a:ext cx="4353886" cy="5355312"/>
          </a:xfrm>
          <a:prstGeom prst="rect">
            <a:avLst/>
          </a:prstGeom>
          <a:noFill/>
        </p:spPr>
        <p:txBody>
          <a:bodyPr wrap="square" rtlCol="0">
            <a:spAutoFit/>
          </a:bodyPr>
          <a:lstStyle/>
          <a:p>
            <a:pPr marL="285750" indent="-285750">
              <a:buFontTx/>
              <a:buChar char="-"/>
            </a:pPr>
            <a:r>
              <a:rPr lang="en-US"/>
              <a:t>Đọc tài liệu đầu vào và chia thành các Chunk.</a:t>
            </a:r>
            <a:endParaRPr lang="vi-VN"/>
          </a:p>
          <a:p>
            <a:pPr marL="285750" indent="-285750">
              <a:buFontTx/>
              <a:buChar char="-"/>
            </a:pPr>
            <a:r>
              <a:rPr lang="en-US"/>
              <a:t>Sử dụng LLM để Extract: </a:t>
            </a:r>
            <a:r>
              <a:rPr lang="vi-VN"/>
              <a:t>Entities, Relations, </a:t>
            </a:r>
            <a:r>
              <a:rPr lang="en-US"/>
              <a:t>Entity de</a:t>
            </a:r>
            <a:r>
              <a:rPr lang="vi-VN"/>
              <a:t>scriptions, </a:t>
            </a:r>
            <a:r>
              <a:rPr lang="en-US"/>
              <a:t>Relation descriptions</a:t>
            </a:r>
            <a:endParaRPr lang="vi-VN"/>
          </a:p>
          <a:p>
            <a:pPr marL="285750" indent="-285750">
              <a:buFontTx/>
              <a:buChar char="-"/>
            </a:pPr>
            <a:r>
              <a:rPr lang="en-US"/>
              <a:t>Xây dựng Knowledge Graph từ các Entity và Relation.</a:t>
            </a:r>
            <a:r>
              <a:rPr lang="vi-VN"/>
              <a:t> Tổng kết: LightRAG rẻ hơn tổng thể trong kịch bản test này (60 câu, graph mới build). Nhưng phần chi phí cao của Microsoft GraphRAG đến từ việc build community summary, một khoản one-time cost đã được cache lại, nên với số lượng câu hỏi lớn hơn của cùng bộ tài liệu này, Microsoft graph rag có thể rẻ hơn </a:t>
            </a:r>
          </a:p>
          <a:p>
            <a:pPr marL="285750" indent="-285750">
              <a:buFontTx/>
              <a:buChar char="-"/>
            </a:pPr>
            <a:r>
              <a:rPr lang="vi-VN"/>
              <a:t>Đ</a:t>
            </a:r>
            <a:r>
              <a:rPr lang="en-US"/>
              <a:t>ồng thời tạo Vector Embeddings cho:</a:t>
            </a:r>
            <a:r>
              <a:rPr lang="vi-VN"/>
              <a:t> Entitie,</a:t>
            </a:r>
            <a:r>
              <a:rPr lang="en-US"/>
              <a:t> </a:t>
            </a:r>
            <a:r>
              <a:rPr lang="vi-VN"/>
              <a:t>Relations, </a:t>
            </a:r>
            <a:r>
              <a:rPr lang="en-US"/>
              <a:t>Chunks</a:t>
            </a:r>
            <a:endParaRPr lang="vi-VN"/>
          </a:p>
          <a:p>
            <a:pPr marL="285750" indent="-285750">
              <a:buFontTx/>
              <a:buChar char="-"/>
            </a:pPr>
            <a:r>
              <a:rPr lang="en-US"/>
              <a:t>Lưu Graph + Vector Index để phục vụ Retrieval.</a:t>
            </a:r>
            <a:endParaRPr lang="vi-VN"/>
          </a:p>
        </p:txBody>
      </p:sp>
      <p:pic>
        <p:nvPicPr>
          <p:cNvPr id="10" name="Picture 9">
            <a:extLst>
              <a:ext uri="{FF2B5EF4-FFF2-40B4-BE49-F238E27FC236}">
                <a16:creationId xmlns:a16="http://schemas.microsoft.com/office/drawing/2014/main" id="{85C64837-3C99-2C13-CD0C-9F1185594F9F}"/>
              </a:ext>
            </a:extLst>
          </p:cNvPr>
          <p:cNvPicPr>
            <a:picLocks noChangeAspect="1"/>
          </p:cNvPicPr>
          <p:nvPr/>
        </p:nvPicPr>
        <p:blipFill>
          <a:blip r:embed="rId2"/>
          <a:stretch>
            <a:fillRect/>
          </a:stretch>
        </p:blipFill>
        <p:spPr>
          <a:xfrm>
            <a:off x="4572000" y="1208015"/>
            <a:ext cx="4229467" cy="4806600"/>
          </a:xfrm>
          <a:prstGeom prst="rect">
            <a:avLst/>
          </a:prstGeom>
        </p:spPr>
      </p:pic>
    </p:spTree>
    <p:extLst>
      <p:ext uri="{BB962C8B-B14F-4D97-AF65-F5344CB8AC3E}">
        <p14:creationId xmlns:p14="http://schemas.microsoft.com/office/powerpoint/2010/main" val="29817972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9C812-4AA9-9C86-8C44-00D02B6CA4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73C117-3138-280F-E8A3-5E57744AD2C7}"/>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3" name="Title 2">
            <a:extLst>
              <a:ext uri="{FF2B5EF4-FFF2-40B4-BE49-F238E27FC236}">
                <a16:creationId xmlns:a16="http://schemas.microsoft.com/office/drawing/2014/main" id="{EB45DA3D-BC6A-572F-2080-36B4969E2626}"/>
              </a:ext>
            </a:extLst>
          </p:cNvPr>
          <p:cNvSpPr>
            <a:spLocks noGrp="1"/>
          </p:cNvSpPr>
          <p:nvPr>
            <p:ph type="title"/>
          </p:nvPr>
        </p:nvSpPr>
        <p:spPr/>
        <p:txBody>
          <a:bodyPr/>
          <a:lstStyle/>
          <a:p>
            <a:r>
              <a:rPr lang="vi-VN" sz="2400"/>
              <a:t>Light RAG – Phase </a:t>
            </a:r>
            <a:r>
              <a:rPr lang="en-US" sz="2400"/>
              <a:t>2 — ENTITY / GRAPH CONSTRUCTION</a:t>
            </a:r>
          </a:p>
        </p:txBody>
      </p:sp>
      <p:sp>
        <p:nvSpPr>
          <p:cNvPr id="6" name="TextBox 5">
            <a:extLst>
              <a:ext uri="{FF2B5EF4-FFF2-40B4-BE49-F238E27FC236}">
                <a16:creationId xmlns:a16="http://schemas.microsoft.com/office/drawing/2014/main" id="{5B804287-7D6D-727B-DCF1-ACB61BB91356}"/>
              </a:ext>
            </a:extLst>
          </p:cNvPr>
          <p:cNvSpPr txBox="1"/>
          <p:nvPr/>
        </p:nvSpPr>
        <p:spPr>
          <a:xfrm>
            <a:off x="218114" y="2172749"/>
            <a:ext cx="4353886" cy="2031325"/>
          </a:xfrm>
          <a:prstGeom prst="rect">
            <a:avLst/>
          </a:prstGeom>
          <a:noFill/>
        </p:spPr>
        <p:txBody>
          <a:bodyPr wrap="square" rtlCol="0">
            <a:spAutoFit/>
          </a:bodyPr>
          <a:lstStyle/>
          <a:p>
            <a:pPr marL="285750" indent="-285750">
              <a:buFontTx/>
              <a:buChar char="-"/>
            </a:pPr>
            <a:r>
              <a:rPr lang="en-US"/>
              <a:t>Chuẩn hóa và xây dựng các Entity trong Graph.</a:t>
            </a:r>
            <a:endParaRPr lang="vi-VN"/>
          </a:p>
          <a:p>
            <a:pPr marL="285750" indent="-285750">
              <a:buFontTx/>
              <a:buChar char="-"/>
            </a:pPr>
            <a:r>
              <a:rPr lang="en-US"/>
              <a:t>Xác định các Relation giữa Entity.</a:t>
            </a:r>
            <a:endParaRPr lang="vi-VN"/>
          </a:p>
          <a:p>
            <a:pPr marL="285750" indent="-285750">
              <a:buFontTx/>
              <a:buChar char="-"/>
            </a:pPr>
            <a:r>
              <a:rPr lang="en-US"/>
              <a:t>Entity và Relation được liên kết với các Chunk chứa thông tin tương ứng.</a:t>
            </a:r>
            <a:endParaRPr lang="vi-VN"/>
          </a:p>
          <a:p>
            <a:pPr marL="285750" indent="-285750">
              <a:buFontTx/>
              <a:buChar char="-"/>
            </a:pPr>
            <a:r>
              <a:rPr lang="en-US"/>
              <a:t>Graph và Vector Index cùng được sử dụng trong quá trình Retrieval.</a:t>
            </a:r>
            <a:endParaRPr lang="vi-VN"/>
          </a:p>
        </p:txBody>
      </p:sp>
      <p:pic>
        <p:nvPicPr>
          <p:cNvPr id="8" name="Picture 7">
            <a:extLst>
              <a:ext uri="{FF2B5EF4-FFF2-40B4-BE49-F238E27FC236}">
                <a16:creationId xmlns:a16="http://schemas.microsoft.com/office/drawing/2014/main" id="{D15BDD2F-8909-71AD-9A47-BFE0E1A20BBD}"/>
              </a:ext>
            </a:extLst>
          </p:cNvPr>
          <p:cNvPicPr>
            <a:picLocks noChangeAspect="1"/>
          </p:cNvPicPr>
          <p:nvPr/>
        </p:nvPicPr>
        <p:blipFill>
          <a:blip r:embed="rId2"/>
          <a:stretch>
            <a:fillRect/>
          </a:stretch>
        </p:blipFill>
        <p:spPr>
          <a:xfrm>
            <a:off x="5137404" y="1011181"/>
            <a:ext cx="2758679" cy="5379106"/>
          </a:xfrm>
          <a:prstGeom prst="rect">
            <a:avLst/>
          </a:prstGeom>
        </p:spPr>
      </p:pic>
    </p:spTree>
    <p:extLst>
      <p:ext uri="{BB962C8B-B14F-4D97-AF65-F5344CB8AC3E}">
        <p14:creationId xmlns:p14="http://schemas.microsoft.com/office/powerpoint/2010/main" val="82897640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EB071-232E-4F7F-0047-71FEDC6DB9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59A8F7-6472-6C90-6384-F4A5C8F8ED16}"/>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3" name="Title 2">
            <a:extLst>
              <a:ext uri="{FF2B5EF4-FFF2-40B4-BE49-F238E27FC236}">
                <a16:creationId xmlns:a16="http://schemas.microsoft.com/office/drawing/2014/main" id="{9B65181C-1A3B-45BB-B623-40843AF207EB}"/>
              </a:ext>
            </a:extLst>
          </p:cNvPr>
          <p:cNvSpPr>
            <a:spLocks noGrp="1"/>
          </p:cNvSpPr>
          <p:nvPr>
            <p:ph type="title"/>
          </p:nvPr>
        </p:nvSpPr>
        <p:spPr/>
        <p:txBody>
          <a:bodyPr/>
          <a:lstStyle/>
          <a:p>
            <a:r>
              <a:rPr lang="vi-VN" sz="2400"/>
              <a:t>Light RAG – Phase 3</a:t>
            </a:r>
            <a:r>
              <a:rPr lang="en-US" sz="2400"/>
              <a:t> — QUERY &amp; RETRIEVAL</a:t>
            </a:r>
          </a:p>
        </p:txBody>
      </p:sp>
      <p:sp>
        <p:nvSpPr>
          <p:cNvPr id="6" name="TextBox 5">
            <a:extLst>
              <a:ext uri="{FF2B5EF4-FFF2-40B4-BE49-F238E27FC236}">
                <a16:creationId xmlns:a16="http://schemas.microsoft.com/office/drawing/2014/main" id="{E2EBAF4B-1282-B2E8-E6EB-42590A65F9BF}"/>
              </a:ext>
            </a:extLst>
          </p:cNvPr>
          <p:cNvSpPr txBox="1"/>
          <p:nvPr/>
        </p:nvSpPr>
        <p:spPr>
          <a:xfrm>
            <a:off x="218114" y="1434518"/>
            <a:ext cx="4353886" cy="4524315"/>
          </a:xfrm>
          <a:prstGeom prst="rect">
            <a:avLst/>
          </a:prstGeom>
          <a:noFill/>
        </p:spPr>
        <p:txBody>
          <a:bodyPr wrap="square" rtlCol="0">
            <a:spAutoFit/>
          </a:bodyPr>
          <a:lstStyle/>
          <a:p>
            <a:pPr marL="285750" indent="-285750">
              <a:buFontTx/>
              <a:buChar char="-"/>
            </a:pPr>
            <a:r>
              <a:rPr lang="en-US"/>
              <a:t>Nhận User Query.</a:t>
            </a:r>
            <a:endParaRPr lang="vi-VN"/>
          </a:p>
          <a:p>
            <a:pPr marL="285750" indent="-285750">
              <a:buFontTx/>
              <a:buChar char="-"/>
            </a:pPr>
            <a:r>
              <a:rPr lang="en-US"/>
              <a:t>Phân tích Query để xác định thông tin cần Retrieval.</a:t>
            </a:r>
            <a:endParaRPr lang="vi-VN"/>
          </a:p>
          <a:p>
            <a:pPr marL="285750" indent="-285750">
              <a:buFontTx/>
              <a:buChar char="-"/>
            </a:pPr>
            <a:r>
              <a:rPr lang="en-US"/>
              <a:t>LightRAG hỗ trợ hai hướng Retrieval chính:</a:t>
            </a:r>
            <a:endParaRPr lang="vi-VN"/>
          </a:p>
          <a:p>
            <a:pPr marL="742950" lvl="1" indent="-285750">
              <a:buFontTx/>
              <a:buChar char="-"/>
            </a:pPr>
            <a:r>
              <a:rPr lang="en-US"/>
              <a:t> Local Search</a:t>
            </a:r>
            <a:endParaRPr lang="vi-VN"/>
          </a:p>
          <a:p>
            <a:pPr marL="1200150" lvl="2" indent="-285750">
              <a:buFontTx/>
              <a:buChar char="-"/>
            </a:pPr>
            <a:r>
              <a:rPr lang="en-US"/>
              <a:t>Tập trung vào Entity cụ thể.</a:t>
            </a:r>
            <a:endParaRPr lang="vi-VN"/>
          </a:p>
          <a:p>
            <a:pPr marL="1200150" lvl="2" indent="-285750">
              <a:buFontTx/>
              <a:buChar char="-"/>
            </a:pPr>
            <a:r>
              <a:rPr lang="en-US"/>
              <a:t>Truy xuất Entity, Relation và thông tin lân cận.</a:t>
            </a:r>
            <a:endParaRPr lang="vi-VN"/>
          </a:p>
          <a:p>
            <a:pPr marL="742950" lvl="1" indent="-285750">
              <a:buFontTx/>
              <a:buChar char="-"/>
            </a:pPr>
            <a:r>
              <a:rPr lang="en-US"/>
              <a:t>Global Search</a:t>
            </a:r>
            <a:endParaRPr lang="vi-VN"/>
          </a:p>
          <a:p>
            <a:pPr marL="1200150" lvl="2" indent="-285750">
              <a:buFontTx/>
              <a:buChar char="-"/>
            </a:pPr>
            <a:r>
              <a:rPr lang="en-US"/>
              <a:t>Tập trung vào thông tin tổng quát.</a:t>
            </a:r>
            <a:endParaRPr lang="vi-VN"/>
          </a:p>
          <a:p>
            <a:pPr marL="1200150" lvl="2" indent="-285750">
              <a:buFontTx/>
              <a:buChar char="-"/>
            </a:pPr>
            <a:r>
              <a:rPr lang="en-US"/>
              <a:t>Khai thác thông tin ở mức Graph / Community.</a:t>
            </a:r>
            <a:endParaRPr lang="vi-VN"/>
          </a:p>
          <a:p>
            <a:pPr marL="285750" indent="-285750">
              <a:buFontTx/>
              <a:buChar char="-"/>
            </a:pPr>
            <a:r>
              <a:rPr lang="en-US"/>
              <a:t>Có thể kết hợp Graph Retrieval với Vector Retrieval để lấy Context phù hợp.</a:t>
            </a:r>
            <a:endParaRPr lang="vi-VN"/>
          </a:p>
        </p:txBody>
      </p:sp>
      <p:pic>
        <p:nvPicPr>
          <p:cNvPr id="7" name="Picture 6">
            <a:extLst>
              <a:ext uri="{FF2B5EF4-FFF2-40B4-BE49-F238E27FC236}">
                <a16:creationId xmlns:a16="http://schemas.microsoft.com/office/drawing/2014/main" id="{2AC60FCD-2784-101B-DA9C-1382235F7FE7}"/>
              </a:ext>
            </a:extLst>
          </p:cNvPr>
          <p:cNvPicPr>
            <a:picLocks noChangeAspect="1"/>
          </p:cNvPicPr>
          <p:nvPr/>
        </p:nvPicPr>
        <p:blipFill>
          <a:blip r:embed="rId2"/>
          <a:stretch>
            <a:fillRect/>
          </a:stretch>
        </p:blipFill>
        <p:spPr>
          <a:xfrm>
            <a:off x="4496500" y="1194143"/>
            <a:ext cx="4194133" cy="4865193"/>
          </a:xfrm>
          <a:prstGeom prst="rect">
            <a:avLst/>
          </a:prstGeom>
        </p:spPr>
      </p:pic>
    </p:spTree>
    <p:extLst>
      <p:ext uri="{BB962C8B-B14F-4D97-AF65-F5344CB8AC3E}">
        <p14:creationId xmlns:p14="http://schemas.microsoft.com/office/powerpoint/2010/main" val="333374540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A1DE-8610-9C32-F278-1E22C0A3FB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699DC9-C99B-5B38-4389-4E04A311CA16}"/>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3" name="Title 2">
            <a:extLst>
              <a:ext uri="{FF2B5EF4-FFF2-40B4-BE49-F238E27FC236}">
                <a16:creationId xmlns:a16="http://schemas.microsoft.com/office/drawing/2014/main" id="{98C5A5D4-8B4F-D775-6F11-D4202BB327C5}"/>
              </a:ext>
            </a:extLst>
          </p:cNvPr>
          <p:cNvSpPr>
            <a:spLocks noGrp="1"/>
          </p:cNvSpPr>
          <p:nvPr>
            <p:ph type="title"/>
          </p:nvPr>
        </p:nvSpPr>
        <p:spPr/>
        <p:txBody>
          <a:bodyPr/>
          <a:lstStyle/>
          <a:p>
            <a:r>
              <a:rPr lang="vi-VN" sz="2400"/>
              <a:t>Light RAG – Phase 4</a:t>
            </a:r>
            <a:r>
              <a:rPr lang="en-US" sz="2400"/>
              <a:t> — GENERATION</a:t>
            </a:r>
          </a:p>
        </p:txBody>
      </p:sp>
      <p:sp>
        <p:nvSpPr>
          <p:cNvPr id="6" name="TextBox 5">
            <a:extLst>
              <a:ext uri="{FF2B5EF4-FFF2-40B4-BE49-F238E27FC236}">
                <a16:creationId xmlns:a16="http://schemas.microsoft.com/office/drawing/2014/main" id="{D8A390E3-EDEE-FCF5-4CF1-745B1F560054}"/>
              </a:ext>
            </a:extLst>
          </p:cNvPr>
          <p:cNvSpPr txBox="1"/>
          <p:nvPr/>
        </p:nvSpPr>
        <p:spPr>
          <a:xfrm>
            <a:off x="235077" y="2332139"/>
            <a:ext cx="4093828" cy="1477328"/>
          </a:xfrm>
          <a:prstGeom prst="rect">
            <a:avLst/>
          </a:prstGeom>
          <a:noFill/>
        </p:spPr>
        <p:txBody>
          <a:bodyPr wrap="square" rtlCol="0">
            <a:spAutoFit/>
          </a:bodyPr>
          <a:lstStyle/>
          <a:p>
            <a:pPr marL="285750" indent="-285750">
              <a:buFontTx/>
              <a:buChar char="-"/>
            </a:pPr>
            <a:r>
              <a:rPr lang="en-US"/>
              <a:t>Context từ Retrieval được tổng hợp.</a:t>
            </a:r>
            <a:endParaRPr lang="vi-VN"/>
          </a:p>
          <a:p>
            <a:pPr marL="285750" indent="-285750">
              <a:buFontTx/>
              <a:buChar char="-"/>
            </a:pPr>
            <a:r>
              <a:rPr lang="en-US"/>
              <a:t>Context + User Query được đưa vào LLM.</a:t>
            </a:r>
            <a:endParaRPr lang="vi-VN"/>
          </a:p>
          <a:p>
            <a:pPr marL="285750" indent="-285750">
              <a:buFontTx/>
              <a:buChar char="-"/>
            </a:pPr>
            <a:r>
              <a:rPr lang="en-US"/>
              <a:t>LLM Generate Answer dựa trên Context.</a:t>
            </a:r>
            <a:endParaRPr lang="vi-VN"/>
          </a:p>
        </p:txBody>
      </p:sp>
      <p:pic>
        <p:nvPicPr>
          <p:cNvPr id="5" name="Picture 4">
            <a:extLst>
              <a:ext uri="{FF2B5EF4-FFF2-40B4-BE49-F238E27FC236}">
                <a16:creationId xmlns:a16="http://schemas.microsoft.com/office/drawing/2014/main" id="{338AE373-FE63-79E9-0E0E-FF85C445D716}"/>
              </a:ext>
            </a:extLst>
          </p:cNvPr>
          <p:cNvPicPr>
            <a:picLocks noChangeAspect="1"/>
          </p:cNvPicPr>
          <p:nvPr/>
        </p:nvPicPr>
        <p:blipFill>
          <a:blip r:embed="rId2"/>
          <a:stretch>
            <a:fillRect/>
          </a:stretch>
        </p:blipFill>
        <p:spPr>
          <a:xfrm>
            <a:off x="4640050" y="1985389"/>
            <a:ext cx="3930399" cy="2894202"/>
          </a:xfrm>
          <a:prstGeom prst="rect">
            <a:avLst/>
          </a:prstGeom>
        </p:spPr>
      </p:pic>
    </p:spTree>
    <p:extLst>
      <p:ext uri="{BB962C8B-B14F-4D97-AF65-F5344CB8AC3E}">
        <p14:creationId xmlns:p14="http://schemas.microsoft.com/office/powerpoint/2010/main" val="39395677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27D7E-CEC9-1AEA-6941-5313141FA7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516C9E-6E0B-428F-60CE-58184A7A7BE3}"/>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3" name="Title 2">
            <a:extLst>
              <a:ext uri="{FF2B5EF4-FFF2-40B4-BE49-F238E27FC236}">
                <a16:creationId xmlns:a16="http://schemas.microsoft.com/office/drawing/2014/main" id="{37ABCFFE-923F-7D4F-96C2-0D4A8A7B76C4}"/>
              </a:ext>
            </a:extLst>
          </p:cNvPr>
          <p:cNvSpPr>
            <a:spLocks noGrp="1"/>
          </p:cNvSpPr>
          <p:nvPr>
            <p:ph type="title"/>
          </p:nvPr>
        </p:nvSpPr>
        <p:spPr/>
        <p:txBody>
          <a:bodyPr/>
          <a:lstStyle/>
          <a:p>
            <a:r>
              <a:rPr lang="vi-VN" sz="2400"/>
              <a:t>Diffirences</a:t>
            </a:r>
            <a:endParaRPr lang="en-US" sz="2400"/>
          </a:p>
        </p:txBody>
      </p:sp>
      <p:graphicFrame>
        <p:nvGraphicFramePr>
          <p:cNvPr id="4" name="Table 3">
            <a:extLst>
              <a:ext uri="{FF2B5EF4-FFF2-40B4-BE49-F238E27FC236}">
                <a16:creationId xmlns:a16="http://schemas.microsoft.com/office/drawing/2014/main" id="{C568237C-A9DA-7C60-814D-ACC432BA793F}"/>
              </a:ext>
            </a:extLst>
          </p:cNvPr>
          <p:cNvGraphicFramePr>
            <a:graphicFrameLocks noGrp="1"/>
          </p:cNvGraphicFramePr>
          <p:nvPr>
            <p:extLst>
              <p:ext uri="{D42A27DB-BD31-4B8C-83A1-F6EECF244321}">
                <p14:modId xmlns:p14="http://schemas.microsoft.com/office/powerpoint/2010/main" val="2459501252"/>
              </p:ext>
            </p:extLst>
          </p:nvPr>
        </p:nvGraphicFramePr>
        <p:xfrm>
          <a:off x="433138" y="970547"/>
          <a:ext cx="7884696" cy="4591390"/>
        </p:xfrm>
        <a:graphic>
          <a:graphicData uri="http://schemas.openxmlformats.org/drawingml/2006/table">
            <a:tbl>
              <a:tblPr firstRow="1" bandRow="1">
                <a:tableStyleId>{5C22544A-7EE6-4342-B048-85BDC9FD1C3A}</a:tableStyleId>
              </a:tblPr>
              <a:tblGrid>
                <a:gridCol w="2628232">
                  <a:extLst>
                    <a:ext uri="{9D8B030D-6E8A-4147-A177-3AD203B41FA5}">
                      <a16:colId xmlns:a16="http://schemas.microsoft.com/office/drawing/2014/main" val="1118249356"/>
                    </a:ext>
                  </a:extLst>
                </a:gridCol>
                <a:gridCol w="2628232">
                  <a:extLst>
                    <a:ext uri="{9D8B030D-6E8A-4147-A177-3AD203B41FA5}">
                      <a16:colId xmlns:a16="http://schemas.microsoft.com/office/drawing/2014/main" val="1574404839"/>
                    </a:ext>
                  </a:extLst>
                </a:gridCol>
                <a:gridCol w="2628232">
                  <a:extLst>
                    <a:ext uri="{9D8B030D-6E8A-4147-A177-3AD203B41FA5}">
                      <a16:colId xmlns:a16="http://schemas.microsoft.com/office/drawing/2014/main" val="1683711843"/>
                    </a:ext>
                  </a:extLst>
                </a:gridCol>
              </a:tblGrid>
              <a:tr h="401053">
                <a:tc>
                  <a:txBody>
                    <a:bodyPr/>
                    <a:lstStyle/>
                    <a:p>
                      <a:endParaRPr lang="en-US" i="0"/>
                    </a:p>
                  </a:txBody>
                  <a:tcPr/>
                </a:tc>
                <a:tc>
                  <a:txBody>
                    <a:bodyPr/>
                    <a:lstStyle/>
                    <a:p>
                      <a:r>
                        <a:rPr lang="en-US" b="1" i="0"/>
                        <a:t>MS</a:t>
                      </a:r>
                      <a:r>
                        <a:rPr lang="vi-VN" b="1" i="0"/>
                        <a:t> style</a:t>
                      </a:r>
                      <a:r>
                        <a:rPr lang="en-US" b="1" i="0"/>
                        <a:t> GraphRAG</a:t>
                      </a:r>
                      <a:endParaRPr lang="en-US" i="0"/>
                    </a:p>
                  </a:txBody>
                  <a:tcPr/>
                </a:tc>
                <a:tc>
                  <a:txBody>
                    <a:bodyPr/>
                    <a:lstStyle/>
                    <a:p>
                      <a:r>
                        <a:rPr lang="en-US" b="1" i="0"/>
                        <a:t>LightRAG</a:t>
                      </a:r>
                      <a:endParaRPr lang="en-US" i="0"/>
                    </a:p>
                  </a:txBody>
                  <a:tcPr/>
                </a:tc>
                <a:extLst>
                  <a:ext uri="{0D108BD9-81ED-4DB2-BD59-A6C34878D82A}">
                    <a16:rowId xmlns:a16="http://schemas.microsoft.com/office/drawing/2014/main" val="2569820022"/>
                  </a:ext>
                </a:extLst>
              </a:tr>
              <a:tr h="1355697">
                <a:tc>
                  <a:txBody>
                    <a:bodyPr/>
                    <a:lstStyle/>
                    <a:p>
                      <a:r>
                        <a:rPr lang="en-US" sz="1400" b="0" i="0">
                          <a:latin typeface="Times New Roman" panose="02020603050405020304" pitchFamily="18" charset="0"/>
                          <a:cs typeface="Times New Roman" panose="02020603050405020304" pitchFamily="18" charset="0"/>
                        </a:rPr>
                        <a:t>Core Architecture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a:latin typeface="Times New Roman" panose="02020603050405020304" pitchFamily="18" charset="0"/>
                          <a:cs typeface="Times New Roman" panose="02020603050405020304" pitchFamily="18" charset="0"/>
                        </a:rPr>
                        <a:t>Thuần Graph-centric. Phụ thuộc hoàn toàn vào cấu trúc </a:t>
                      </a:r>
                      <a:r>
                        <a:rPr lang="vi-VN" sz="1400" b="0" i="0">
                          <a:latin typeface="Times New Roman" panose="02020603050405020304" pitchFamily="18" charset="0"/>
                          <a:cs typeface="Times New Roman" panose="02020603050405020304" pitchFamily="18" charset="0"/>
                        </a:rPr>
                        <a:t>KG </a:t>
                      </a:r>
                      <a:r>
                        <a:rPr lang="en-US" sz="1400" b="0" i="0">
                          <a:latin typeface="Times New Roman" panose="02020603050405020304" pitchFamily="18" charset="0"/>
                          <a:cs typeface="Times New Roman" panose="02020603050405020304" pitchFamily="18" charset="0"/>
                        </a:rPr>
                        <a:t>và các Summaries</a:t>
                      </a:r>
                      <a:endParaRPr lang="vi-VN" sz="1400" b="0" i="0">
                        <a:latin typeface="Times New Roman" panose="02020603050405020304" pitchFamily="18" charset="0"/>
                        <a:cs typeface="Times New Roman" panose="02020603050405020304" pitchFamily="18" charset="0"/>
                      </a:endParaRPr>
                    </a:p>
                  </a:txBody>
                  <a:tcPr/>
                </a:tc>
                <a:tc>
                  <a:txBody>
                    <a:bodyPr/>
                    <a:lstStyle/>
                    <a:p>
                      <a:r>
                        <a:rPr lang="en-US" sz="1400" b="0" i="0">
                          <a:latin typeface="Times New Roman" panose="02020603050405020304" pitchFamily="18" charset="0"/>
                          <a:cs typeface="Times New Roman" panose="02020603050405020304" pitchFamily="18" charset="0"/>
                        </a:rPr>
                        <a:t>Kết hợp Graph + Vector-centric. Indexing và truy xuất song song </a:t>
                      </a:r>
                      <a:r>
                        <a:rPr lang="vi-VN" sz="1400" b="0" i="0">
                          <a:latin typeface="Times New Roman" panose="02020603050405020304" pitchFamily="18" charset="0"/>
                          <a:cs typeface="Times New Roman" panose="02020603050405020304" pitchFamily="18" charset="0"/>
                        </a:rPr>
                        <a:t>KG</a:t>
                      </a:r>
                      <a:r>
                        <a:rPr lang="en-US" sz="1400" b="0" i="0">
                          <a:latin typeface="Times New Roman" panose="02020603050405020304" pitchFamily="18" charset="0"/>
                          <a:cs typeface="Times New Roman" panose="02020603050405020304" pitchFamily="18" charset="0"/>
                        </a:rPr>
                        <a:t> và không gian vector.</a:t>
                      </a:r>
                    </a:p>
                  </a:txBody>
                  <a:tcPr/>
                </a:tc>
                <a:extLst>
                  <a:ext uri="{0D108BD9-81ED-4DB2-BD59-A6C34878D82A}">
                    <a16:rowId xmlns:a16="http://schemas.microsoft.com/office/drawing/2014/main" val="3641524533"/>
                  </a:ext>
                </a:extLst>
              </a:tr>
              <a:tr h="505187">
                <a:tc>
                  <a:txBody>
                    <a:bodyPr/>
                    <a:lstStyle/>
                    <a:p>
                      <a:r>
                        <a:rPr lang="en-US" sz="1400" b="0" i="0">
                          <a:latin typeface="Times New Roman" panose="02020603050405020304" pitchFamily="18" charset="0"/>
                          <a:cs typeface="Times New Roman" panose="02020603050405020304" pitchFamily="18" charset="0"/>
                        </a:rPr>
                        <a:t>Entity Resolution</a:t>
                      </a:r>
                    </a:p>
                  </a:txBody>
                  <a:tcPr/>
                </a:tc>
                <a:tc>
                  <a:txBody>
                    <a:bodyPr/>
                    <a:lstStyle/>
                    <a:p>
                      <a:r>
                        <a:rPr lang="en-US" sz="1400" b="0" i="0">
                          <a:latin typeface="Times New Roman" panose="02020603050405020304" pitchFamily="18" charset="0"/>
                          <a:cs typeface="Times New Roman" panose="02020603050405020304" pitchFamily="18" charset="0"/>
                        </a:rPr>
                        <a:t>Pipeline "nặng" và độc lập (Qua 3 lớp: Alias → Relation → LLM Verify) tốn nhiều chi phí gọi LLM.</a:t>
                      </a:r>
                    </a:p>
                  </a:txBody>
                  <a:tcPr/>
                </a:tc>
                <a:tc>
                  <a:txBody>
                    <a:bodyPr/>
                    <a:lstStyle/>
                    <a:p>
                      <a:r>
                        <a:rPr lang="en-US" sz="1400" b="0" i="0">
                          <a:latin typeface="Times New Roman" panose="02020603050405020304" pitchFamily="18" charset="0"/>
                          <a:cs typeface="Times New Roman" panose="02020603050405020304" pitchFamily="18" charset="0"/>
                        </a:rPr>
                        <a:t>: Cơ chế tinh gọn, gộp và xử lý Entity linh hoạt ngay trong lúc khởi tạo Graph </a:t>
                      </a:r>
                    </a:p>
                  </a:txBody>
                  <a:tcPr/>
                </a:tc>
                <a:extLst>
                  <a:ext uri="{0D108BD9-81ED-4DB2-BD59-A6C34878D82A}">
                    <a16:rowId xmlns:a16="http://schemas.microsoft.com/office/drawing/2014/main" val="1023147836"/>
                  </a:ext>
                </a:extLst>
              </a:tr>
              <a:tr h="505187">
                <a:tc>
                  <a:txBody>
                    <a:bodyPr/>
                    <a:lstStyle/>
                    <a:p>
                      <a:r>
                        <a:rPr lang="en-US" sz="1400" b="0" i="0">
                          <a:latin typeface="Times New Roman" panose="02020603050405020304" pitchFamily="18" charset="0"/>
                          <a:cs typeface="Times New Roman" panose="02020603050405020304" pitchFamily="18" charset="0"/>
                        </a:rPr>
                        <a:t>Retrieval</a:t>
                      </a:r>
                    </a:p>
                  </a:txBody>
                  <a:tcPr/>
                </a:tc>
                <a:tc>
                  <a:txBody>
                    <a:bodyPr/>
                    <a:lstStyle/>
                    <a:p>
                      <a:r>
                        <a:rPr lang="en-US" sz="1400" b="0" i="0">
                          <a:latin typeface="Times New Roman" panose="02020603050405020304" pitchFamily="18" charset="0"/>
                          <a:cs typeface="Times New Roman" panose="02020603050405020304" pitchFamily="18" charset="0"/>
                        </a:rPr>
                        <a:t>Có Entity → </a:t>
                      </a:r>
                      <a:r>
                        <a:rPr lang="vi-VN" sz="1400" b="0" i="0">
                          <a:latin typeface="Times New Roman" panose="02020603050405020304" pitchFamily="18" charset="0"/>
                          <a:cs typeface="Times New Roman" panose="02020603050405020304" pitchFamily="18" charset="0"/>
                        </a:rPr>
                        <a:t>Local search</a:t>
                      </a:r>
                      <a:r>
                        <a:rPr lang="en-US" sz="1400" b="0" i="0">
                          <a:latin typeface="Times New Roman" panose="02020603050405020304" pitchFamily="18" charset="0"/>
                          <a:cs typeface="Times New Roman" panose="02020603050405020304" pitchFamily="18" charset="0"/>
                        </a:rPr>
                        <a:t>; Không có Entity → </a:t>
                      </a:r>
                      <a:r>
                        <a:rPr lang="vi-VN" sz="1400" b="0" i="0">
                          <a:latin typeface="Times New Roman" panose="02020603050405020304" pitchFamily="18" charset="0"/>
                          <a:cs typeface="Times New Roman" panose="02020603050405020304" pitchFamily="18" charset="0"/>
                        </a:rPr>
                        <a:t>global search</a:t>
                      </a:r>
                      <a:endParaRPr lang="en-US" sz="1400" b="0" i="0">
                        <a:latin typeface="Times New Roman" panose="02020603050405020304" pitchFamily="18" charset="0"/>
                        <a:cs typeface="Times New Roman" panose="02020603050405020304" pitchFamily="18" charset="0"/>
                      </a:endParaRPr>
                    </a:p>
                  </a:txBody>
                  <a:tcPr/>
                </a:tc>
                <a:tc>
                  <a:txBody>
                    <a:bodyPr/>
                    <a:lstStyle/>
                    <a:p>
                      <a:r>
                        <a:rPr lang="en-US" sz="1400" b="0" i="0">
                          <a:latin typeface="Times New Roman" panose="02020603050405020304" pitchFamily="18" charset="0"/>
                          <a:cs typeface="Times New Roman" panose="02020603050405020304" pitchFamily="18" charset="0"/>
                        </a:rPr>
                        <a:t>Local hay Global Search đều dùng Vector Search kết hợp Graph Traversal để lấy Context chính xác và bao quát hơn</a:t>
                      </a:r>
                    </a:p>
                  </a:txBody>
                  <a:tcPr/>
                </a:tc>
                <a:extLst>
                  <a:ext uri="{0D108BD9-81ED-4DB2-BD59-A6C34878D82A}">
                    <a16:rowId xmlns:a16="http://schemas.microsoft.com/office/drawing/2014/main" val="3140168842"/>
                  </a:ext>
                </a:extLst>
              </a:tr>
              <a:tr h="505187">
                <a:tc>
                  <a:txBody>
                    <a:bodyPr/>
                    <a:lstStyle/>
                    <a:p>
                      <a:r>
                        <a:rPr lang="vi-VN" sz="1400" b="0" i="0">
                          <a:latin typeface="Times New Roman" panose="02020603050405020304" pitchFamily="18" charset="0"/>
                          <a:cs typeface="Times New Roman" panose="02020603050405020304" pitchFamily="18" charset="0"/>
                        </a:rPr>
                        <a:t>Cost</a:t>
                      </a:r>
                      <a:endParaRPr lang="en-US" sz="1400" b="0" i="0">
                        <a:latin typeface="Times New Roman" panose="02020603050405020304" pitchFamily="18" charset="0"/>
                        <a:cs typeface="Times New Roman" panose="02020603050405020304" pitchFamily="18" charset="0"/>
                      </a:endParaRPr>
                    </a:p>
                  </a:txBody>
                  <a:tcPr/>
                </a:tc>
                <a:tc>
                  <a:txBody>
                    <a:bodyPr/>
                    <a:lstStyle/>
                    <a:p>
                      <a:r>
                        <a:rPr lang="en-US" sz="1400" b="0" i="0">
                          <a:latin typeface="Times New Roman" panose="02020603050405020304" pitchFamily="18" charset="0"/>
                          <a:cs typeface="Times New Roman" panose="02020603050405020304" pitchFamily="18" charset="0"/>
                        </a:rPr>
                        <a:t>Sinh và lưu trữ Community Summary cho toàn bộ Graph tốn kém tài nguyên và thời gian Indexing</a:t>
                      </a:r>
                    </a:p>
                  </a:txBody>
                  <a:tcPr/>
                </a:tc>
                <a:tc>
                  <a:txBody>
                    <a:bodyPr/>
                    <a:lstStyle/>
                    <a:p>
                      <a:r>
                        <a:rPr lang="en-US" sz="1400" b="0" i="0">
                          <a:latin typeface="Times New Roman" panose="02020603050405020304" pitchFamily="18" charset="0"/>
                          <a:cs typeface="Times New Roman" panose="02020603050405020304" pitchFamily="18" charset="0"/>
                        </a:rPr>
                        <a:t>Chi phí thấp hơn, tốc độ Retrieval nhanh hơn nhờ dùng Vector Search làm "bộ lọc" trước khi truy xuất sâu vào Graph.</a:t>
                      </a:r>
                    </a:p>
                  </a:txBody>
                  <a:tcPr/>
                </a:tc>
                <a:extLst>
                  <a:ext uri="{0D108BD9-81ED-4DB2-BD59-A6C34878D82A}">
                    <a16:rowId xmlns:a16="http://schemas.microsoft.com/office/drawing/2014/main" val="3139766502"/>
                  </a:ext>
                </a:extLst>
              </a:tr>
            </a:tbl>
          </a:graphicData>
        </a:graphic>
      </p:graphicFrame>
    </p:spTree>
    <p:extLst>
      <p:ext uri="{BB962C8B-B14F-4D97-AF65-F5344CB8AC3E}">
        <p14:creationId xmlns:p14="http://schemas.microsoft.com/office/powerpoint/2010/main" val="164740896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A2A2E-E5A3-526C-5786-DA6BCD0C9DB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D8F83-AFBB-EA26-8881-7443661FBE25}"/>
              </a:ext>
            </a:extLst>
          </p:cNvPr>
          <p:cNvSpPr>
            <a:spLocks noGrp="1"/>
          </p:cNvSpPr>
          <p:nvPr>
            <p:ph type="sldNum" sz="quarter" idx="12"/>
          </p:nvPr>
        </p:nvSpPr>
        <p:spPr/>
        <p:txBody>
          <a:bodyPr/>
          <a:lstStyle/>
          <a:p>
            <a:fld id="{9EA0BE3B-158A-4EDF-80DC-E394A0D1600F}" type="slidenum">
              <a:rPr lang="en-US" smtClean="0"/>
              <a:pPr/>
              <a:t>13</a:t>
            </a:fld>
            <a:endParaRPr lang="en-US"/>
          </a:p>
        </p:txBody>
      </p:sp>
      <p:sp>
        <p:nvSpPr>
          <p:cNvPr id="3" name="Title 2">
            <a:extLst>
              <a:ext uri="{FF2B5EF4-FFF2-40B4-BE49-F238E27FC236}">
                <a16:creationId xmlns:a16="http://schemas.microsoft.com/office/drawing/2014/main" id="{1A224F5B-C055-9EDC-6BF5-BE342A811547}"/>
              </a:ext>
            </a:extLst>
          </p:cNvPr>
          <p:cNvSpPr>
            <a:spLocks noGrp="1"/>
          </p:cNvSpPr>
          <p:nvPr>
            <p:ph type="title"/>
          </p:nvPr>
        </p:nvSpPr>
        <p:spPr/>
        <p:txBody>
          <a:bodyPr/>
          <a:lstStyle/>
          <a:p>
            <a:r>
              <a:rPr lang="vi-VN"/>
              <a:t>Evaluation: Microsoft style Graph RAG </a:t>
            </a:r>
            <a:endParaRPr lang="en-US"/>
          </a:p>
        </p:txBody>
      </p:sp>
      <p:pic>
        <p:nvPicPr>
          <p:cNvPr id="5" name="Picture 4">
            <a:extLst>
              <a:ext uri="{FF2B5EF4-FFF2-40B4-BE49-F238E27FC236}">
                <a16:creationId xmlns:a16="http://schemas.microsoft.com/office/drawing/2014/main" id="{3A02D5EF-B2E8-11EE-56C5-062CEDB51F64}"/>
              </a:ext>
            </a:extLst>
          </p:cNvPr>
          <p:cNvPicPr>
            <a:picLocks noChangeAspect="1"/>
          </p:cNvPicPr>
          <p:nvPr/>
        </p:nvPicPr>
        <p:blipFill>
          <a:blip r:embed="rId2"/>
          <a:stretch>
            <a:fillRect/>
          </a:stretch>
        </p:blipFill>
        <p:spPr>
          <a:xfrm>
            <a:off x="0" y="1376709"/>
            <a:ext cx="9144000" cy="3316014"/>
          </a:xfrm>
          <a:prstGeom prst="rect">
            <a:avLst/>
          </a:prstGeom>
        </p:spPr>
      </p:pic>
    </p:spTree>
    <p:extLst>
      <p:ext uri="{BB962C8B-B14F-4D97-AF65-F5344CB8AC3E}">
        <p14:creationId xmlns:p14="http://schemas.microsoft.com/office/powerpoint/2010/main" val="1435765936"/>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5B566-7E3F-D9F2-D851-89AE7FCE8F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2CF1D4-67AF-F98C-513F-66CFDDA83D30}"/>
              </a:ext>
            </a:extLst>
          </p:cNvPr>
          <p:cNvSpPr>
            <a:spLocks noGrp="1"/>
          </p:cNvSpPr>
          <p:nvPr>
            <p:ph type="sldNum" sz="quarter" idx="12"/>
          </p:nvPr>
        </p:nvSpPr>
        <p:spPr/>
        <p:txBody>
          <a:bodyPr/>
          <a:lstStyle/>
          <a:p>
            <a:fld id="{9EA0BE3B-158A-4EDF-80DC-E394A0D1600F}" type="slidenum">
              <a:rPr lang="en-US" smtClean="0"/>
              <a:pPr/>
              <a:t>14</a:t>
            </a:fld>
            <a:endParaRPr lang="en-US"/>
          </a:p>
        </p:txBody>
      </p:sp>
      <p:sp>
        <p:nvSpPr>
          <p:cNvPr id="3" name="Title 2">
            <a:extLst>
              <a:ext uri="{FF2B5EF4-FFF2-40B4-BE49-F238E27FC236}">
                <a16:creationId xmlns:a16="http://schemas.microsoft.com/office/drawing/2014/main" id="{908FBF2F-C0CB-3D20-8547-A64D38F0EB5C}"/>
              </a:ext>
            </a:extLst>
          </p:cNvPr>
          <p:cNvSpPr>
            <a:spLocks noGrp="1"/>
          </p:cNvSpPr>
          <p:nvPr>
            <p:ph type="title"/>
          </p:nvPr>
        </p:nvSpPr>
        <p:spPr/>
        <p:txBody>
          <a:bodyPr/>
          <a:lstStyle/>
          <a:p>
            <a:r>
              <a:rPr lang="vi-VN"/>
              <a:t>Evaluation: Microsoft style Graph RAG </a:t>
            </a:r>
            <a:endParaRPr lang="en-US"/>
          </a:p>
        </p:txBody>
      </p:sp>
      <p:pic>
        <p:nvPicPr>
          <p:cNvPr id="6" name="Picture 5">
            <a:extLst>
              <a:ext uri="{FF2B5EF4-FFF2-40B4-BE49-F238E27FC236}">
                <a16:creationId xmlns:a16="http://schemas.microsoft.com/office/drawing/2014/main" id="{8A8BA9F9-90A3-667C-E889-31AA33B63251}"/>
              </a:ext>
            </a:extLst>
          </p:cNvPr>
          <p:cNvPicPr>
            <a:picLocks noChangeAspect="1"/>
          </p:cNvPicPr>
          <p:nvPr/>
        </p:nvPicPr>
        <p:blipFill>
          <a:blip r:embed="rId2"/>
          <a:stretch>
            <a:fillRect/>
          </a:stretch>
        </p:blipFill>
        <p:spPr>
          <a:xfrm>
            <a:off x="0" y="1241388"/>
            <a:ext cx="9144000" cy="4224222"/>
          </a:xfrm>
          <a:prstGeom prst="rect">
            <a:avLst/>
          </a:prstGeom>
        </p:spPr>
      </p:pic>
    </p:spTree>
    <p:extLst>
      <p:ext uri="{BB962C8B-B14F-4D97-AF65-F5344CB8AC3E}">
        <p14:creationId xmlns:p14="http://schemas.microsoft.com/office/powerpoint/2010/main" val="3509152663"/>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3CFA9-A7E4-607A-426F-2E3B978F20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3D111E3-BA51-C56B-CE94-F7C62E3A9D54}"/>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3" name="Title 2">
            <a:extLst>
              <a:ext uri="{FF2B5EF4-FFF2-40B4-BE49-F238E27FC236}">
                <a16:creationId xmlns:a16="http://schemas.microsoft.com/office/drawing/2014/main" id="{1E3E7BF6-708B-2738-CA45-55ED18E8DB73}"/>
              </a:ext>
            </a:extLst>
          </p:cNvPr>
          <p:cNvSpPr>
            <a:spLocks noGrp="1"/>
          </p:cNvSpPr>
          <p:nvPr>
            <p:ph type="title"/>
          </p:nvPr>
        </p:nvSpPr>
        <p:spPr/>
        <p:txBody>
          <a:bodyPr/>
          <a:lstStyle/>
          <a:p>
            <a:r>
              <a:rPr lang="vi-VN"/>
              <a:t>Evaluation: Light RAG </a:t>
            </a:r>
            <a:endParaRPr lang="en-US"/>
          </a:p>
        </p:txBody>
      </p:sp>
      <p:pic>
        <p:nvPicPr>
          <p:cNvPr id="5" name="Picture 4">
            <a:extLst>
              <a:ext uri="{FF2B5EF4-FFF2-40B4-BE49-F238E27FC236}">
                <a16:creationId xmlns:a16="http://schemas.microsoft.com/office/drawing/2014/main" id="{0982466C-1D77-A306-0563-8D1A2069BF94}"/>
              </a:ext>
            </a:extLst>
          </p:cNvPr>
          <p:cNvPicPr>
            <a:picLocks noChangeAspect="1"/>
          </p:cNvPicPr>
          <p:nvPr/>
        </p:nvPicPr>
        <p:blipFill>
          <a:blip r:embed="rId2"/>
          <a:stretch>
            <a:fillRect/>
          </a:stretch>
        </p:blipFill>
        <p:spPr>
          <a:xfrm>
            <a:off x="0" y="1797083"/>
            <a:ext cx="9144000" cy="3263834"/>
          </a:xfrm>
          <a:prstGeom prst="rect">
            <a:avLst/>
          </a:prstGeom>
        </p:spPr>
      </p:pic>
    </p:spTree>
    <p:extLst>
      <p:ext uri="{BB962C8B-B14F-4D97-AF65-F5344CB8AC3E}">
        <p14:creationId xmlns:p14="http://schemas.microsoft.com/office/powerpoint/2010/main" val="1267224070"/>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FA7B-37DC-1B72-010A-18F2857D08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DF12D2-9D8B-AE36-DA97-81195A848540}"/>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3" name="Title 2">
            <a:extLst>
              <a:ext uri="{FF2B5EF4-FFF2-40B4-BE49-F238E27FC236}">
                <a16:creationId xmlns:a16="http://schemas.microsoft.com/office/drawing/2014/main" id="{68A5741C-EFDA-8C4D-FEB9-177F36FAC0C9}"/>
              </a:ext>
            </a:extLst>
          </p:cNvPr>
          <p:cNvSpPr>
            <a:spLocks noGrp="1"/>
          </p:cNvSpPr>
          <p:nvPr>
            <p:ph type="title"/>
          </p:nvPr>
        </p:nvSpPr>
        <p:spPr/>
        <p:txBody>
          <a:bodyPr/>
          <a:lstStyle/>
          <a:p>
            <a:r>
              <a:rPr lang="vi-VN"/>
              <a:t>Evaluation: Light RAG </a:t>
            </a:r>
            <a:endParaRPr lang="en-US"/>
          </a:p>
        </p:txBody>
      </p:sp>
      <p:pic>
        <p:nvPicPr>
          <p:cNvPr id="6" name="Picture 5">
            <a:extLst>
              <a:ext uri="{FF2B5EF4-FFF2-40B4-BE49-F238E27FC236}">
                <a16:creationId xmlns:a16="http://schemas.microsoft.com/office/drawing/2014/main" id="{71D10C85-2224-8771-F92F-2371F74DAB6B}"/>
              </a:ext>
            </a:extLst>
          </p:cNvPr>
          <p:cNvPicPr>
            <a:picLocks noChangeAspect="1"/>
          </p:cNvPicPr>
          <p:nvPr/>
        </p:nvPicPr>
        <p:blipFill>
          <a:blip r:embed="rId2"/>
          <a:stretch>
            <a:fillRect/>
          </a:stretch>
        </p:blipFill>
        <p:spPr>
          <a:xfrm>
            <a:off x="0" y="1315125"/>
            <a:ext cx="9144000" cy="4227749"/>
          </a:xfrm>
          <a:prstGeom prst="rect">
            <a:avLst/>
          </a:prstGeom>
        </p:spPr>
      </p:pic>
    </p:spTree>
    <p:extLst>
      <p:ext uri="{BB962C8B-B14F-4D97-AF65-F5344CB8AC3E}">
        <p14:creationId xmlns:p14="http://schemas.microsoft.com/office/powerpoint/2010/main" val="216000803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ABBF-080B-9C70-4429-E7F8C1704B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83C22E-BC76-45BB-C69A-A6112A3F4EB9}"/>
              </a:ext>
            </a:extLst>
          </p:cNvPr>
          <p:cNvSpPr>
            <a:spLocks noGrp="1"/>
          </p:cNvSpPr>
          <p:nvPr>
            <p:ph type="sldNum" sz="quarter" idx="12"/>
          </p:nvPr>
        </p:nvSpPr>
        <p:spPr/>
        <p:txBody>
          <a:bodyPr/>
          <a:lstStyle/>
          <a:p>
            <a:fld id="{9EA0BE3B-158A-4EDF-80DC-E394A0D1600F}" type="slidenum">
              <a:rPr lang="en-US" smtClean="0"/>
              <a:pPr/>
              <a:t>17</a:t>
            </a:fld>
            <a:endParaRPr lang="en-US"/>
          </a:p>
        </p:txBody>
      </p:sp>
      <p:sp>
        <p:nvSpPr>
          <p:cNvPr id="3" name="Title 2">
            <a:extLst>
              <a:ext uri="{FF2B5EF4-FFF2-40B4-BE49-F238E27FC236}">
                <a16:creationId xmlns:a16="http://schemas.microsoft.com/office/drawing/2014/main" id="{F7E765CA-8355-4850-6513-4455C53D6B5D}"/>
              </a:ext>
            </a:extLst>
          </p:cNvPr>
          <p:cNvSpPr>
            <a:spLocks noGrp="1"/>
          </p:cNvSpPr>
          <p:nvPr>
            <p:ph type="title"/>
          </p:nvPr>
        </p:nvSpPr>
        <p:spPr/>
        <p:txBody>
          <a:bodyPr/>
          <a:lstStyle/>
          <a:p>
            <a:r>
              <a:rPr lang="vi-VN"/>
              <a:t>So sánh số lượng token tiêu thụ</a:t>
            </a:r>
            <a:endParaRPr lang="en-US"/>
          </a:p>
        </p:txBody>
      </p:sp>
      <p:pic>
        <p:nvPicPr>
          <p:cNvPr id="5" name="Picture 4">
            <a:extLst>
              <a:ext uri="{FF2B5EF4-FFF2-40B4-BE49-F238E27FC236}">
                <a16:creationId xmlns:a16="http://schemas.microsoft.com/office/drawing/2014/main" id="{7664DB36-57AB-0DDB-BE72-80FB500B9FB2}"/>
              </a:ext>
            </a:extLst>
          </p:cNvPr>
          <p:cNvPicPr>
            <a:picLocks noChangeAspect="1"/>
          </p:cNvPicPr>
          <p:nvPr/>
        </p:nvPicPr>
        <p:blipFill>
          <a:blip r:embed="rId2"/>
          <a:stretch>
            <a:fillRect/>
          </a:stretch>
        </p:blipFill>
        <p:spPr>
          <a:xfrm>
            <a:off x="0" y="905510"/>
            <a:ext cx="9144000" cy="4677864"/>
          </a:xfrm>
          <a:prstGeom prst="rect">
            <a:avLst/>
          </a:prstGeom>
        </p:spPr>
      </p:pic>
    </p:spTree>
    <p:extLst>
      <p:ext uri="{BB962C8B-B14F-4D97-AF65-F5344CB8AC3E}">
        <p14:creationId xmlns:p14="http://schemas.microsoft.com/office/powerpoint/2010/main" val="262801335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2774-6319-F05A-4AD7-15C1A90AE33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95BBA4-A023-E632-56C2-D03D06B91630}"/>
              </a:ext>
            </a:extLst>
          </p:cNvPr>
          <p:cNvSpPr>
            <a:spLocks noGrp="1"/>
          </p:cNvSpPr>
          <p:nvPr>
            <p:ph type="sldNum" sz="quarter" idx="12"/>
          </p:nvPr>
        </p:nvSpPr>
        <p:spPr/>
        <p:txBody>
          <a:bodyPr/>
          <a:lstStyle/>
          <a:p>
            <a:fld id="{9EA0BE3B-158A-4EDF-80DC-E394A0D1600F}" type="slidenum">
              <a:rPr lang="en-US" smtClean="0"/>
              <a:pPr/>
              <a:t>18</a:t>
            </a:fld>
            <a:endParaRPr lang="en-US"/>
          </a:p>
        </p:txBody>
      </p:sp>
      <p:sp>
        <p:nvSpPr>
          <p:cNvPr id="3" name="Title 2">
            <a:extLst>
              <a:ext uri="{FF2B5EF4-FFF2-40B4-BE49-F238E27FC236}">
                <a16:creationId xmlns:a16="http://schemas.microsoft.com/office/drawing/2014/main" id="{1A221ED9-014A-33A1-AD3B-3AAACF9775C6}"/>
              </a:ext>
            </a:extLst>
          </p:cNvPr>
          <p:cNvSpPr>
            <a:spLocks noGrp="1"/>
          </p:cNvSpPr>
          <p:nvPr>
            <p:ph type="title"/>
          </p:nvPr>
        </p:nvSpPr>
        <p:spPr/>
        <p:txBody>
          <a:bodyPr/>
          <a:lstStyle/>
          <a:p>
            <a:r>
              <a:rPr lang="vi-VN"/>
              <a:t>Explaination</a:t>
            </a:r>
            <a:endParaRPr lang="en-US"/>
          </a:p>
        </p:txBody>
      </p:sp>
      <p:graphicFrame>
        <p:nvGraphicFramePr>
          <p:cNvPr id="4" name="Table 3">
            <a:extLst>
              <a:ext uri="{FF2B5EF4-FFF2-40B4-BE49-F238E27FC236}">
                <a16:creationId xmlns:a16="http://schemas.microsoft.com/office/drawing/2014/main" id="{9D307384-9EBC-6926-E5EF-E0DA8883145A}"/>
              </a:ext>
            </a:extLst>
          </p:cNvPr>
          <p:cNvGraphicFramePr>
            <a:graphicFrameLocks noGrp="1"/>
          </p:cNvGraphicFramePr>
          <p:nvPr>
            <p:extLst>
              <p:ext uri="{D42A27DB-BD31-4B8C-83A1-F6EECF244321}">
                <p14:modId xmlns:p14="http://schemas.microsoft.com/office/powerpoint/2010/main" val="969221437"/>
              </p:ext>
            </p:extLst>
          </p:nvPr>
        </p:nvGraphicFramePr>
        <p:xfrm>
          <a:off x="1150257" y="828321"/>
          <a:ext cx="6096000" cy="13817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983963480"/>
                    </a:ext>
                  </a:extLst>
                </a:gridCol>
                <a:gridCol w="1524000">
                  <a:extLst>
                    <a:ext uri="{9D8B030D-6E8A-4147-A177-3AD203B41FA5}">
                      <a16:colId xmlns:a16="http://schemas.microsoft.com/office/drawing/2014/main" val="557606626"/>
                    </a:ext>
                  </a:extLst>
                </a:gridCol>
                <a:gridCol w="1524000">
                  <a:extLst>
                    <a:ext uri="{9D8B030D-6E8A-4147-A177-3AD203B41FA5}">
                      <a16:colId xmlns:a16="http://schemas.microsoft.com/office/drawing/2014/main" val="3817685301"/>
                    </a:ext>
                  </a:extLst>
                </a:gridCol>
                <a:gridCol w="1524000">
                  <a:extLst>
                    <a:ext uri="{9D8B030D-6E8A-4147-A177-3AD203B41FA5}">
                      <a16:colId xmlns:a16="http://schemas.microsoft.com/office/drawing/2014/main" val="2794798644"/>
                    </a:ext>
                  </a:extLst>
                </a:gridCol>
              </a:tblGrid>
              <a:tr h="370840">
                <a:tc>
                  <a:txBody>
                    <a:bodyPr/>
                    <a:lstStyle/>
                    <a:p>
                      <a:endParaRPr lang="en-US"/>
                    </a:p>
                  </a:txBody>
                  <a:tcPr/>
                </a:tc>
                <a:tc>
                  <a:txBody>
                    <a:bodyPr/>
                    <a:lstStyle/>
                    <a:p>
                      <a:r>
                        <a:rPr lang="en-US"/>
                        <a:t>INDEXING </a:t>
                      </a:r>
                    </a:p>
                  </a:txBody>
                  <a:tcPr/>
                </a:tc>
                <a:tc>
                  <a:txBody>
                    <a:bodyPr/>
                    <a:lstStyle/>
                    <a:p>
                      <a:r>
                        <a:rPr lang="en-US"/>
                        <a:t>QUERYING </a:t>
                      </a:r>
                    </a:p>
                  </a:txBody>
                  <a:tcPr/>
                </a:tc>
                <a:tc>
                  <a:txBody>
                    <a:bodyPr/>
                    <a:lstStyle/>
                    <a:p>
                      <a:r>
                        <a:rPr lang="en-US"/>
                        <a:t>TOTAL</a:t>
                      </a:r>
                    </a:p>
                  </a:txBody>
                  <a:tcPr/>
                </a:tc>
                <a:extLst>
                  <a:ext uri="{0D108BD9-81ED-4DB2-BD59-A6C34878D82A}">
                    <a16:rowId xmlns:a16="http://schemas.microsoft.com/office/drawing/2014/main" val="1271191187"/>
                  </a:ext>
                </a:extLst>
              </a:tr>
              <a:tr h="370840">
                <a:tc>
                  <a:txBody>
                    <a:bodyPr/>
                    <a:lstStyle/>
                    <a:p>
                      <a:r>
                        <a:rPr lang="vi-VN"/>
                        <a:t>Microsoft</a:t>
                      </a:r>
                      <a:r>
                        <a:rPr lang="en-US"/>
                        <a:t> GraphRAG</a:t>
                      </a:r>
                    </a:p>
                  </a:txBody>
                  <a:tcPr/>
                </a:tc>
                <a:tc>
                  <a:txBody>
                    <a:bodyPr/>
                    <a:lstStyle/>
                    <a:p>
                      <a:r>
                        <a:rPr lang="en-US"/>
                        <a:t>35,724</a:t>
                      </a:r>
                    </a:p>
                  </a:txBody>
                  <a:tcPr/>
                </a:tc>
                <a:tc>
                  <a:txBody>
                    <a:bodyPr/>
                    <a:lstStyle/>
                    <a:p>
                      <a:r>
                        <a:rPr lang="en-US"/>
                        <a:t>313,436</a:t>
                      </a:r>
                    </a:p>
                  </a:txBody>
                  <a:tcPr/>
                </a:tc>
                <a:tc>
                  <a:txBody>
                    <a:bodyPr/>
                    <a:lstStyle/>
                    <a:p>
                      <a:r>
                        <a:rPr lang="en-US"/>
                        <a:t>349,160</a:t>
                      </a:r>
                      <a:endParaRPr lang="vi-VN"/>
                    </a:p>
                    <a:p>
                      <a:endParaRPr lang="vi-VN"/>
                    </a:p>
                  </a:txBody>
                  <a:tcPr/>
                </a:tc>
                <a:extLst>
                  <a:ext uri="{0D108BD9-81ED-4DB2-BD59-A6C34878D82A}">
                    <a16:rowId xmlns:a16="http://schemas.microsoft.com/office/drawing/2014/main" val="3740468338"/>
                  </a:ext>
                </a:extLst>
              </a:tr>
              <a:tr h="370840">
                <a:tc>
                  <a:txBody>
                    <a:bodyPr/>
                    <a:lstStyle/>
                    <a:p>
                      <a:r>
                        <a:rPr lang="en-US"/>
                        <a:t>LightRAG</a:t>
                      </a:r>
                    </a:p>
                  </a:txBody>
                  <a:tcPr/>
                </a:tc>
                <a:tc>
                  <a:txBody>
                    <a:bodyPr/>
                    <a:lstStyle/>
                    <a:p>
                      <a:r>
                        <a:rPr lang="en-US"/>
                        <a:t>77,445</a:t>
                      </a:r>
                    </a:p>
                  </a:txBody>
                  <a:tcPr/>
                </a:tc>
                <a:tc>
                  <a:txBody>
                    <a:bodyPr/>
                    <a:lstStyle/>
                    <a:p>
                      <a:r>
                        <a:rPr lang="en-US"/>
                        <a:t>61,990 </a:t>
                      </a:r>
                    </a:p>
                  </a:txBody>
                  <a:tcPr/>
                </a:tc>
                <a:tc>
                  <a:txBody>
                    <a:bodyPr/>
                    <a:lstStyle/>
                    <a:p>
                      <a:r>
                        <a:rPr lang="en-US"/>
                        <a:t>139,435</a:t>
                      </a:r>
                      <a:endParaRPr lang="vi-VN"/>
                    </a:p>
                  </a:txBody>
                  <a:tcPr/>
                </a:tc>
                <a:extLst>
                  <a:ext uri="{0D108BD9-81ED-4DB2-BD59-A6C34878D82A}">
                    <a16:rowId xmlns:a16="http://schemas.microsoft.com/office/drawing/2014/main" val="714571175"/>
                  </a:ext>
                </a:extLst>
              </a:tr>
            </a:tbl>
          </a:graphicData>
        </a:graphic>
      </p:graphicFrame>
      <p:sp>
        <p:nvSpPr>
          <p:cNvPr id="5" name="TextBox 4">
            <a:extLst>
              <a:ext uri="{FF2B5EF4-FFF2-40B4-BE49-F238E27FC236}">
                <a16:creationId xmlns:a16="http://schemas.microsoft.com/office/drawing/2014/main" id="{9D1F99DA-0858-05E9-8A50-305E0759C571}"/>
              </a:ext>
            </a:extLst>
          </p:cNvPr>
          <p:cNvSpPr txBox="1"/>
          <p:nvPr/>
        </p:nvSpPr>
        <p:spPr>
          <a:xfrm>
            <a:off x="3926048" y="1535185"/>
            <a:ext cx="184731" cy="369332"/>
          </a:xfrm>
          <a:prstGeom prst="rect">
            <a:avLst/>
          </a:prstGeom>
          <a:noFill/>
        </p:spPr>
        <p:txBody>
          <a:bodyPr wrap="none" rtlCol="0">
            <a:spAutoFit/>
          </a:bodyPr>
          <a:lstStyle/>
          <a:p>
            <a:endParaRPr lang="en-US"/>
          </a:p>
        </p:txBody>
      </p:sp>
      <p:sp>
        <p:nvSpPr>
          <p:cNvPr id="6" name="TextBox 5">
            <a:extLst>
              <a:ext uri="{FF2B5EF4-FFF2-40B4-BE49-F238E27FC236}">
                <a16:creationId xmlns:a16="http://schemas.microsoft.com/office/drawing/2014/main" id="{FB4FE63F-F55B-41B1-07CE-286DD7957D7C}"/>
              </a:ext>
            </a:extLst>
          </p:cNvPr>
          <p:cNvSpPr txBox="1"/>
          <p:nvPr/>
        </p:nvSpPr>
        <p:spPr>
          <a:xfrm>
            <a:off x="510709" y="2305648"/>
            <a:ext cx="3687548" cy="1754326"/>
          </a:xfrm>
          <a:prstGeom prst="rect">
            <a:avLst/>
          </a:prstGeom>
          <a:noFill/>
        </p:spPr>
        <p:txBody>
          <a:bodyPr wrap="none" rtlCol="0">
            <a:spAutoFit/>
          </a:bodyPr>
          <a:lstStyle/>
          <a:p>
            <a:r>
              <a:rPr lang="vi-VN"/>
              <a:t>INDEXING:</a:t>
            </a:r>
          </a:p>
          <a:p>
            <a:pPr marL="285750" indent="-285750">
              <a:buFontTx/>
              <a:buChar char="-"/>
            </a:pPr>
            <a:r>
              <a:rPr lang="en-US"/>
              <a:t>LightRAG tốn nhiều token hơn</a:t>
            </a:r>
            <a:r>
              <a:rPr lang="vi-VN"/>
              <a:t> do:</a:t>
            </a:r>
          </a:p>
          <a:p>
            <a:pPr marL="742950" lvl="1" indent="-285750">
              <a:buFontTx/>
              <a:buChar char="-"/>
            </a:pPr>
            <a:r>
              <a:rPr lang="en-US"/>
              <a:t>Entity Description dài</a:t>
            </a:r>
            <a:endParaRPr lang="vi-VN"/>
          </a:p>
          <a:p>
            <a:pPr marL="742950" lvl="1" indent="-285750">
              <a:buFontTx/>
              <a:buChar char="-"/>
            </a:pPr>
            <a:r>
              <a:rPr lang="en-US"/>
              <a:t>Entity / Relation extraction</a:t>
            </a:r>
            <a:endParaRPr lang="vi-VN"/>
          </a:p>
          <a:p>
            <a:pPr marL="742950" lvl="1" indent="-285750">
              <a:buFontTx/>
              <a:buChar char="-"/>
            </a:pPr>
            <a:r>
              <a:rPr lang="en-US"/>
              <a:t>Gleaning</a:t>
            </a:r>
            <a:endParaRPr lang="vi-VN"/>
          </a:p>
          <a:p>
            <a:pPr marL="742950" lvl="1" indent="-285750">
              <a:buFontTx/>
              <a:buChar char="-"/>
            </a:pPr>
            <a:r>
              <a:rPr lang="en-US"/>
              <a:t>Merge thông tin Entity trùng</a:t>
            </a:r>
          </a:p>
        </p:txBody>
      </p:sp>
      <p:sp>
        <p:nvSpPr>
          <p:cNvPr id="8" name="TextBox 7">
            <a:extLst>
              <a:ext uri="{FF2B5EF4-FFF2-40B4-BE49-F238E27FC236}">
                <a16:creationId xmlns:a16="http://schemas.microsoft.com/office/drawing/2014/main" id="{796E145E-3678-EBC8-FC37-C8C8112FFB4B}"/>
              </a:ext>
            </a:extLst>
          </p:cNvPr>
          <p:cNvSpPr txBox="1"/>
          <p:nvPr/>
        </p:nvSpPr>
        <p:spPr>
          <a:xfrm>
            <a:off x="4198257" y="2305648"/>
            <a:ext cx="4572000" cy="1477328"/>
          </a:xfrm>
          <a:prstGeom prst="rect">
            <a:avLst/>
          </a:prstGeom>
          <a:noFill/>
        </p:spPr>
        <p:txBody>
          <a:bodyPr wrap="square">
            <a:spAutoFit/>
          </a:bodyPr>
          <a:lstStyle/>
          <a:p>
            <a:r>
              <a:rPr lang="en-US"/>
              <a:t>QUERYING</a:t>
            </a:r>
            <a:r>
              <a:rPr lang="vi-VN"/>
              <a:t>:</a:t>
            </a:r>
          </a:p>
          <a:p>
            <a:pPr marL="285750" indent="-285750">
              <a:buFontTx/>
              <a:buChar char="-"/>
            </a:pPr>
            <a:r>
              <a:rPr lang="vi-VN"/>
              <a:t>Microsoft GraphRAG</a:t>
            </a:r>
            <a:r>
              <a:rPr lang="en-US"/>
              <a:t> tốn nhiều token hơn</a:t>
            </a:r>
            <a:r>
              <a:rPr lang="vi-VN"/>
              <a:t> do:</a:t>
            </a:r>
          </a:p>
          <a:p>
            <a:pPr marL="742950" lvl="1" indent="-285750">
              <a:buFontTx/>
              <a:buChar char="-"/>
            </a:pPr>
            <a:r>
              <a:rPr lang="en-US"/>
              <a:t>Community Summary đang được build </a:t>
            </a:r>
            <a:r>
              <a:rPr lang="vi-VN"/>
              <a:t>sau khi querry</a:t>
            </a:r>
            <a:r>
              <a:rPr lang="en-US"/>
              <a:t>.</a:t>
            </a:r>
          </a:p>
        </p:txBody>
      </p:sp>
      <p:sp>
        <p:nvSpPr>
          <p:cNvPr id="9" name="TextBox 8">
            <a:extLst>
              <a:ext uri="{FF2B5EF4-FFF2-40B4-BE49-F238E27FC236}">
                <a16:creationId xmlns:a16="http://schemas.microsoft.com/office/drawing/2014/main" id="{9F5424E3-F541-747C-71C7-901687CE7404}"/>
              </a:ext>
            </a:extLst>
          </p:cNvPr>
          <p:cNvSpPr txBox="1"/>
          <p:nvPr/>
        </p:nvSpPr>
        <p:spPr>
          <a:xfrm>
            <a:off x="510709" y="4357943"/>
            <a:ext cx="8044821" cy="1477328"/>
          </a:xfrm>
          <a:prstGeom prst="rect">
            <a:avLst/>
          </a:prstGeom>
          <a:noFill/>
        </p:spPr>
        <p:txBody>
          <a:bodyPr wrap="square" rtlCol="0">
            <a:spAutoFit/>
          </a:bodyPr>
          <a:lstStyle/>
          <a:p>
            <a:r>
              <a:rPr lang="vi-VN"/>
              <a:t>Tổng kết: LightRAG rẻ hơn tổng thể trong kịch bản test này (60 câu, graph mới build). Nhưng phần chi phí cao của Microsoft GraphRAG đến từ việc build community summary, một khoản one-time cost đã được cache lại, nên với số lượng câu hỏi lớn hơn của cùng bộ tài liệu này, Microsoft graph rag có thể rẻ hơn</a:t>
            </a:r>
          </a:p>
        </p:txBody>
      </p:sp>
    </p:spTree>
    <p:extLst>
      <p:ext uri="{BB962C8B-B14F-4D97-AF65-F5344CB8AC3E}">
        <p14:creationId xmlns:p14="http://schemas.microsoft.com/office/powerpoint/2010/main" val="2132820964"/>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19</a:t>
            </a:fld>
            <a:endParaRPr lang="en-US"/>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5269</TotalTime>
  <Words>1144</Words>
  <Application>Microsoft Office PowerPoint</Application>
  <PresentationFormat>On-screen Show (4:3)</PresentationFormat>
  <Paragraphs>127</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Time s New Roman</vt:lpstr>
      <vt:lpstr>Arial</vt:lpstr>
      <vt:lpstr>Calibri</vt:lpstr>
      <vt:lpstr>Lato</vt:lpstr>
      <vt:lpstr>Times New Roman</vt:lpstr>
      <vt:lpstr>Office Theme</vt:lpstr>
      <vt:lpstr>PowerPoint Presentation</vt:lpstr>
      <vt:lpstr>PowerPoint Presentation</vt:lpstr>
      <vt:lpstr>Microsoft style Graph RAG – Phase 1 - BUILD KNOWLEDGE GRAPH</vt:lpstr>
      <vt:lpstr>Microsoft style Graph RAG – Phase 2 – entity resolution</vt:lpstr>
      <vt:lpstr>Microsoft style Graph RAG – Phase 3 – GLOBAL SUMMARY</vt:lpstr>
      <vt:lpstr>Microsoft style Graph RAG – Phase 4 – RETRIEVAL</vt:lpstr>
      <vt:lpstr>Light RAG – Phase 1 - Overview</vt:lpstr>
      <vt:lpstr>Light RAG – Phase 1 - INDEXING</vt:lpstr>
      <vt:lpstr>Light RAG – Phase 2 — ENTITY / GRAPH CONSTRUCTION</vt:lpstr>
      <vt:lpstr>Light RAG – Phase 3 — QUERY &amp; RETRIEVAL</vt:lpstr>
      <vt:lpstr>Light RAG – Phase 4 — GENERATION</vt:lpstr>
      <vt:lpstr>Diffirences</vt:lpstr>
      <vt:lpstr>Evaluation: Microsoft style Graph RAG </vt:lpstr>
      <vt:lpstr>Evaluation: Microsoft style Graph RAG </vt:lpstr>
      <vt:lpstr>Evaluation: Light RAG </vt:lpstr>
      <vt:lpstr>Evaluation: Light RAG </vt:lpstr>
      <vt:lpstr>So sánh số lượng token tiêu thụ</vt:lpstr>
      <vt:lpstr>Explaination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Vu Sinh Hung 202417128</cp:lastModifiedBy>
  <cp:revision>29</cp:revision>
  <dcterms:created xsi:type="dcterms:W3CDTF">2021-05-28T04:32:29Z</dcterms:created>
  <dcterms:modified xsi:type="dcterms:W3CDTF">2026-09-30T01:04:07Z</dcterms:modified>
</cp:coreProperties>
</file>