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26"/>
  </p:notesMasterIdLst>
  <p:handoutMasterIdLst>
    <p:handoutMasterId r:id="rId27"/>
  </p:handoutMasterIdLst>
  <p:sldIdLst>
    <p:sldId id="275" r:id="rId2"/>
    <p:sldId id="257" r:id="rId3"/>
    <p:sldId id="287" r:id="rId4"/>
    <p:sldId id="302" r:id="rId5"/>
    <p:sldId id="303" r:id="rId6"/>
    <p:sldId id="304" r:id="rId7"/>
    <p:sldId id="305" r:id="rId8"/>
    <p:sldId id="306" r:id="rId9"/>
    <p:sldId id="307" r:id="rId10"/>
    <p:sldId id="308" r:id="rId11"/>
    <p:sldId id="288" r:id="rId12"/>
    <p:sldId id="289" r:id="rId13"/>
    <p:sldId id="290" r:id="rId14"/>
    <p:sldId id="291" r:id="rId15"/>
    <p:sldId id="293" r:id="rId16"/>
    <p:sldId id="294" r:id="rId17"/>
    <p:sldId id="295" r:id="rId18"/>
    <p:sldId id="296" r:id="rId19"/>
    <p:sldId id="297" r:id="rId20"/>
    <p:sldId id="298" r:id="rId21"/>
    <p:sldId id="299" r:id="rId22"/>
    <p:sldId id="301" r:id="rId23"/>
    <p:sldId id="300" r:id="rId24"/>
    <p:sldId id="269"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60"/>
  </p:normalViewPr>
  <p:slideViewPr>
    <p:cSldViewPr snapToGrid="0">
      <p:cViewPr varScale="1">
        <p:scale>
          <a:sx n="95" d="100"/>
          <a:sy n="95" d="100"/>
        </p:scale>
        <p:origin x="1118"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8/25/2026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8/25/2026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9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8/25/2026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8/25/2026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8/25/2026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3938540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8/25/2026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8/25/2026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1629018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8/25/2026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8/25/2026</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0" r:id="rId1"/>
    <p:sldLayoutId id="2147483672" r:id="rId2"/>
    <p:sldLayoutId id="2147483673" r:id="rId3"/>
    <p:sldLayoutId id="2147483683" r:id="rId4"/>
    <p:sldLayoutId id="2147483679" r:id="rId5"/>
    <p:sldLayoutId id="2147483680" r:id="rId6"/>
    <p:sldLayoutId id="2147483681" r:id="rId7"/>
    <p:sldLayoutId id="2147483682" r:id="rId8"/>
    <p:sldLayoutId id="2147483678"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2086453"/>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413012" y="1930377"/>
            <a:ext cx="8095988" cy="3274489"/>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Định </a:t>
            </a:r>
            <a:r>
              <a:rPr lang="en-US" err="1"/>
              <a:t>hướng</a:t>
            </a:r>
            <a:r>
              <a:rPr lang="en-US"/>
              <a:t> </a:t>
            </a:r>
            <a:r>
              <a:rPr lang="en-US" err="1"/>
              <a:t>nghiên</a:t>
            </a:r>
            <a:r>
              <a:rPr lang="en-US"/>
              <a:t> </a:t>
            </a:r>
            <a:r>
              <a:rPr lang="en-US" err="1"/>
              <a:t>cứu</a:t>
            </a:r>
            <a:r>
              <a:rPr lang="en-US"/>
              <a:t> </a:t>
            </a:r>
            <a:r>
              <a:rPr lang="en-US" err="1"/>
              <a:t>và</a:t>
            </a:r>
            <a:r>
              <a:rPr lang="en-US"/>
              <a:t> </a:t>
            </a:r>
            <a:r>
              <a:rPr lang="en-US" err="1"/>
              <a:t>triển</a:t>
            </a:r>
            <a:r>
              <a:rPr lang="en-US"/>
              <a:t> </a:t>
            </a:r>
            <a:r>
              <a:rPr lang="en-US" err="1"/>
              <a:t>khai</a:t>
            </a:r>
            <a:r>
              <a:rPr lang="en-US"/>
              <a:t> </a:t>
            </a:r>
            <a:r>
              <a:rPr lang="en-US" err="1"/>
              <a:t>hệ</a:t>
            </a:r>
            <a:r>
              <a:rPr lang="en-US"/>
              <a:t> </a:t>
            </a:r>
            <a:r>
              <a:rPr lang="en-US" err="1"/>
              <a:t>thống</a:t>
            </a:r>
            <a:r>
              <a:rPr lang="en-US"/>
              <a:t> RAG</a:t>
            </a:r>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413012" y="3681922"/>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sz="2800" b="0"/>
          </a:p>
          <a:p>
            <a:endParaRPr lang="en-US" sz="2800" b="0"/>
          </a:p>
        </p:txBody>
      </p:sp>
    </p:spTree>
    <p:extLst>
      <p:ext uri="{BB962C8B-B14F-4D97-AF65-F5344CB8AC3E}">
        <p14:creationId xmlns:p14="http://schemas.microsoft.com/office/powerpoint/2010/main" val="743172911"/>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88AAC-5492-7FAE-F6F1-9AAD9896833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38E362-5F37-6BC7-EF5F-C022D1B7B080}"/>
              </a:ext>
            </a:extLst>
          </p:cNvPr>
          <p:cNvSpPr>
            <a:spLocks noGrp="1"/>
          </p:cNvSpPr>
          <p:nvPr>
            <p:ph type="sldNum" sz="quarter" idx="12"/>
          </p:nvPr>
        </p:nvSpPr>
        <p:spPr/>
        <p:txBody>
          <a:bodyPr/>
          <a:lstStyle/>
          <a:p>
            <a:fld id="{9EA0BE3B-158A-4EDF-80DC-E394A0D1600F}" type="slidenum">
              <a:rPr lang="en-US" smtClean="0"/>
              <a:pPr/>
              <a:t>3</a:t>
            </a:fld>
            <a:endParaRPr lang="en-US"/>
          </a:p>
        </p:txBody>
      </p:sp>
      <p:sp>
        <p:nvSpPr>
          <p:cNvPr id="3" name="Title 2">
            <a:extLst>
              <a:ext uri="{FF2B5EF4-FFF2-40B4-BE49-F238E27FC236}">
                <a16:creationId xmlns:a16="http://schemas.microsoft.com/office/drawing/2014/main" id="{3826CBA0-DFE9-B6EA-8E70-3FA55283FA0E}"/>
              </a:ext>
            </a:extLst>
          </p:cNvPr>
          <p:cNvSpPr>
            <a:spLocks noGrp="1"/>
          </p:cNvSpPr>
          <p:nvPr>
            <p:ph type="title"/>
          </p:nvPr>
        </p:nvSpPr>
        <p:spPr/>
        <p:txBody>
          <a:bodyPr/>
          <a:lstStyle/>
          <a:p>
            <a:r>
              <a:rPr lang="vi-VN"/>
              <a:t>Mục lục </a:t>
            </a:r>
            <a:endParaRPr lang="en-US"/>
          </a:p>
        </p:txBody>
      </p:sp>
      <p:sp>
        <p:nvSpPr>
          <p:cNvPr id="4" name="Content Placeholder 3">
            <a:extLst>
              <a:ext uri="{FF2B5EF4-FFF2-40B4-BE49-F238E27FC236}">
                <a16:creationId xmlns:a16="http://schemas.microsoft.com/office/drawing/2014/main" id="{4E3F2E15-9CB1-9DC6-C936-ABBABD731E62}"/>
              </a:ext>
            </a:extLst>
          </p:cNvPr>
          <p:cNvSpPr>
            <a:spLocks noGrp="1"/>
          </p:cNvSpPr>
          <p:nvPr>
            <p:ph sz="quarter" idx="13"/>
          </p:nvPr>
        </p:nvSpPr>
        <p:spPr>
          <a:xfrm>
            <a:off x="235077" y="996534"/>
            <a:ext cx="6125618" cy="4216081"/>
          </a:xfrm>
        </p:spPr>
        <p:txBody>
          <a:bodyPr/>
          <a:lstStyle/>
          <a:p>
            <a:pPr marL="857250" lvl="1" indent="-400050">
              <a:buAutoNum type="romanUcPeriod"/>
            </a:pPr>
            <a:r>
              <a:rPr lang="vi-VN" sz="3200">
                <a:latin typeface="+mj-lt"/>
              </a:rPr>
              <a:t>Recap</a:t>
            </a:r>
          </a:p>
          <a:p>
            <a:pPr marL="857250" lvl="1" indent="-400050">
              <a:buAutoNum type="romanUcPeriod"/>
            </a:pPr>
            <a:r>
              <a:rPr lang="vi-VN" sz="3200">
                <a:latin typeface="+mj-lt"/>
              </a:rPr>
              <a:t>RAG</a:t>
            </a:r>
          </a:p>
          <a:p>
            <a:pPr marL="857250" lvl="1" indent="-400050">
              <a:buAutoNum type="romanUcPeriod"/>
            </a:pPr>
            <a:r>
              <a:rPr lang="vi-VN" sz="3200">
                <a:latin typeface="+mj-lt"/>
              </a:rPr>
              <a:t>Graph RAG</a:t>
            </a:r>
            <a:endParaRPr lang="en-US" sz="3200">
              <a:latin typeface="+mj-lt"/>
            </a:endParaRPr>
          </a:p>
        </p:txBody>
      </p:sp>
    </p:spTree>
    <p:extLst>
      <p:ext uri="{BB962C8B-B14F-4D97-AF65-F5344CB8AC3E}">
        <p14:creationId xmlns:p14="http://schemas.microsoft.com/office/powerpoint/2010/main" val="209086704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9F3BA-E19D-2428-B27D-46B2C1647F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3D8F25-C796-92F2-C9AC-A764570D7D27}"/>
              </a:ext>
            </a:extLst>
          </p:cNvPr>
          <p:cNvSpPr>
            <a:spLocks noGrp="1"/>
          </p:cNvSpPr>
          <p:nvPr>
            <p:ph type="sldNum" sz="quarter" idx="12"/>
          </p:nvPr>
        </p:nvSpPr>
        <p:spPr/>
        <p:txBody>
          <a:bodyPr/>
          <a:lstStyle/>
          <a:p>
            <a:fld id="{9EA0BE3B-158A-4EDF-80DC-E394A0D1600F}" type="slidenum">
              <a:rPr lang="en-US" smtClean="0"/>
              <a:pPr/>
              <a:t>4</a:t>
            </a:fld>
            <a:endParaRPr lang="en-US"/>
          </a:p>
        </p:txBody>
      </p:sp>
      <p:sp>
        <p:nvSpPr>
          <p:cNvPr id="3" name="Title 2">
            <a:extLst>
              <a:ext uri="{FF2B5EF4-FFF2-40B4-BE49-F238E27FC236}">
                <a16:creationId xmlns:a16="http://schemas.microsoft.com/office/drawing/2014/main" id="{0CD83384-4C7B-3301-B78D-71A1EFEE119A}"/>
              </a:ext>
            </a:extLst>
          </p:cNvPr>
          <p:cNvSpPr>
            <a:spLocks noGrp="1"/>
          </p:cNvSpPr>
          <p:nvPr>
            <p:ph type="title"/>
          </p:nvPr>
        </p:nvSpPr>
        <p:spPr/>
        <p:txBody>
          <a:bodyPr/>
          <a:lstStyle/>
          <a:p>
            <a:r>
              <a:rPr lang="vi-VN"/>
              <a:t>Recap</a:t>
            </a:r>
            <a:endParaRPr lang="en-US"/>
          </a:p>
        </p:txBody>
      </p:sp>
      <p:sp>
        <p:nvSpPr>
          <p:cNvPr id="6" name="TextBox 5">
            <a:extLst>
              <a:ext uri="{FF2B5EF4-FFF2-40B4-BE49-F238E27FC236}">
                <a16:creationId xmlns:a16="http://schemas.microsoft.com/office/drawing/2014/main" id="{34ED559F-F722-869A-D1A6-34B96C83DB59}"/>
              </a:ext>
            </a:extLst>
          </p:cNvPr>
          <p:cNvSpPr txBox="1"/>
          <p:nvPr/>
        </p:nvSpPr>
        <p:spPr>
          <a:xfrm>
            <a:off x="657726" y="1171228"/>
            <a:ext cx="7828548" cy="1200329"/>
          </a:xfrm>
          <a:prstGeom prst="rect">
            <a:avLst/>
          </a:prstGeom>
          <a:noFill/>
        </p:spPr>
        <p:txBody>
          <a:bodyPr wrap="square" rtlCol="0">
            <a:spAutoFit/>
          </a:bodyPr>
          <a:lstStyle/>
          <a:p>
            <a:pPr marL="285750" indent="-285750">
              <a:buFontTx/>
              <a:buChar char="-"/>
            </a:pPr>
            <a:r>
              <a:rPr lang="en-US"/>
              <a:t>Tìm hiểu cơ sở lý thuyết về Knowledge Graph (KG) </a:t>
            </a:r>
            <a:endParaRPr lang="vi-VN"/>
          </a:p>
          <a:p>
            <a:pPr marL="285750" indent="-285750">
              <a:buFontTx/>
              <a:buChar char="-"/>
            </a:pPr>
            <a:r>
              <a:rPr lang="en-US"/>
              <a:t>So sánh Standard Vector RAG vs. Graph RAG </a:t>
            </a:r>
            <a:endParaRPr lang="vi-VN"/>
          </a:p>
          <a:p>
            <a:pPr marL="285750" indent="-285750">
              <a:buFontTx/>
              <a:buChar char="-"/>
            </a:pPr>
            <a:r>
              <a:rPr lang="en-US"/>
              <a:t>Nghiên cứu cơ chế Retrieval &amp; Đánh giá (Evaluation)</a:t>
            </a:r>
            <a:endParaRPr lang="vi-VN"/>
          </a:p>
          <a:p>
            <a:pPr marL="285750" indent="-285750">
              <a:buFontTx/>
              <a:buChar char="-"/>
            </a:pPr>
            <a:r>
              <a:rPr lang="en-US"/>
              <a:t>Xây dựng Pipeline trích xuất Knowledge Graph  </a:t>
            </a:r>
          </a:p>
        </p:txBody>
      </p:sp>
      <p:pic>
        <p:nvPicPr>
          <p:cNvPr id="7" name="Content Placeholder 6">
            <a:extLst>
              <a:ext uri="{FF2B5EF4-FFF2-40B4-BE49-F238E27FC236}">
                <a16:creationId xmlns:a16="http://schemas.microsoft.com/office/drawing/2014/main" id="{0D79D69A-3637-604C-2F1A-5A40D0C793BB}"/>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18869" y="2476791"/>
            <a:ext cx="9412357" cy="4565694"/>
          </a:xfrm>
          <a:prstGeom prst="rect">
            <a:avLst/>
          </a:prstGeom>
        </p:spPr>
      </p:pic>
    </p:spTree>
    <p:extLst>
      <p:ext uri="{BB962C8B-B14F-4D97-AF65-F5344CB8AC3E}">
        <p14:creationId xmlns:p14="http://schemas.microsoft.com/office/powerpoint/2010/main" val="2202039558"/>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AE88F-9AA6-13A5-4F32-464E5C922F3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539959F-1C3A-7AD9-3228-37B60196FE0C}"/>
              </a:ext>
            </a:extLst>
          </p:cNvPr>
          <p:cNvSpPr>
            <a:spLocks noGrp="1"/>
          </p:cNvSpPr>
          <p:nvPr>
            <p:ph type="sldNum" sz="quarter" idx="12"/>
          </p:nvPr>
        </p:nvSpPr>
        <p:spPr/>
        <p:txBody>
          <a:bodyPr/>
          <a:lstStyle/>
          <a:p>
            <a:fld id="{9EA0BE3B-158A-4EDF-80DC-E394A0D1600F}" type="slidenum">
              <a:rPr lang="en-US" smtClean="0"/>
              <a:pPr/>
              <a:t>5</a:t>
            </a:fld>
            <a:endParaRPr lang="en-US"/>
          </a:p>
        </p:txBody>
      </p:sp>
      <p:sp>
        <p:nvSpPr>
          <p:cNvPr id="3" name="Title 2">
            <a:extLst>
              <a:ext uri="{FF2B5EF4-FFF2-40B4-BE49-F238E27FC236}">
                <a16:creationId xmlns:a16="http://schemas.microsoft.com/office/drawing/2014/main" id="{C5363C9B-EC54-AABA-8AA9-CB62C4C40022}"/>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473516363"/>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AC9E5-D203-B875-2BDE-5BC4559E3F1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86434F-D434-7500-28A4-EB86720C84F7}"/>
              </a:ext>
            </a:extLst>
          </p:cNvPr>
          <p:cNvSpPr>
            <a:spLocks noGrp="1"/>
          </p:cNvSpPr>
          <p:nvPr>
            <p:ph type="sldNum" sz="quarter" idx="12"/>
          </p:nvPr>
        </p:nvSpPr>
        <p:spPr/>
        <p:txBody>
          <a:bodyPr/>
          <a:lstStyle/>
          <a:p>
            <a:fld id="{9EA0BE3B-158A-4EDF-80DC-E394A0D1600F}" type="slidenum">
              <a:rPr lang="en-US" smtClean="0"/>
              <a:pPr/>
              <a:t>6</a:t>
            </a:fld>
            <a:endParaRPr lang="en-US"/>
          </a:p>
        </p:txBody>
      </p:sp>
      <p:sp>
        <p:nvSpPr>
          <p:cNvPr id="3" name="Title 2">
            <a:extLst>
              <a:ext uri="{FF2B5EF4-FFF2-40B4-BE49-F238E27FC236}">
                <a16:creationId xmlns:a16="http://schemas.microsoft.com/office/drawing/2014/main" id="{B94A512D-B359-8D74-7AE8-E58CC770379F}"/>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4120691591"/>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A2A2E-E5A3-526C-5786-DA6BCD0C9DB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4D8F83-AFBB-EA26-8881-7443661FBE25}"/>
              </a:ext>
            </a:extLst>
          </p:cNvPr>
          <p:cNvSpPr>
            <a:spLocks noGrp="1"/>
          </p:cNvSpPr>
          <p:nvPr>
            <p:ph type="sldNum" sz="quarter" idx="12"/>
          </p:nvPr>
        </p:nvSpPr>
        <p:spPr/>
        <p:txBody>
          <a:bodyPr/>
          <a:lstStyle/>
          <a:p>
            <a:fld id="{9EA0BE3B-158A-4EDF-80DC-E394A0D1600F}" type="slidenum">
              <a:rPr lang="en-US" smtClean="0"/>
              <a:pPr/>
              <a:t>7</a:t>
            </a:fld>
            <a:endParaRPr lang="en-US"/>
          </a:p>
        </p:txBody>
      </p:sp>
      <p:sp>
        <p:nvSpPr>
          <p:cNvPr id="3" name="Title 2">
            <a:extLst>
              <a:ext uri="{FF2B5EF4-FFF2-40B4-BE49-F238E27FC236}">
                <a16:creationId xmlns:a16="http://schemas.microsoft.com/office/drawing/2014/main" id="{1A224F5B-C055-9EDC-6BF5-BE342A811547}"/>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435765936"/>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17DD3-8603-4806-45AC-FB311AA95F4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045638-20A2-6F98-675A-12033A84FB88}"/>
              </a:ext>
            </a:extLst>
          </p:cNvPr>
          <p:cNvSpPr>
            <a:spLocks noGrp="1"/>
          </p:cNvSpPr>
          <p:nvPr>
            <p:ph type="sldNum" sz="quarter" idx="12"/>
          </p:nvPr>
        </p:nvSpPr>
        <p:spPr/>
        <p:txBody>
          <a:bodyPr/>
          <a:lstStyle/>
          <a:p>
            <a:fld id="{9EA0BE3B-158A-4EDF-80DC-E394A0D1600F}" type="slidenum">
              <a:rPr lang="en-US" smtClean="0"/>
              <a:pPr/>
              <a:t>8</a:t>
            </a:fld>
            <a:endParaRPr lang="en-US"/>
          </a:p>
        </p:txBody>
      </p:sp>
      <p:sp>
        <p:nvSpPr>
          <p:cNvPr id="3" name="Title 2">
            <a:extLst>
              <a:ext uri="{FF2B5EF4-FFF2-40B4-BE49-F238E27FC236}">
                <a16:creationId xmlns:a16="http://schemas.microsoft.com/office/drawing/2014/main" id="{AB20E1A0-D9A4-2BF7-B372-DB517317CBE6}"/>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006592232"/>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1ABBF-080B-9C70-4429-E7F8C1704B4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83C22E-BC76-45BB-C69A-A6112A3F4EB9}"/>
              </a:ext>
            </a:extLst>
          </p:cNvPr>
          <p:cNvSpPr>
            <a:spLocks noGrp="1"/>
          </p:cNvSpPr>
          <p:nvPr>
            <p:ph type="sldNum" sz="quarter" idx="12"/>
          </p:nvPr>
        </p:nvSpPr>
        <p:spPr/>
        <p:txBody>
          <a:bodyPr/>
          <a:lstStyle/>
          <a:p>
            <a:fld id="{9EA0BE3B-158A-4EDF-80DC-E394A0D1600F}" type="slidenum">
              <a:rPr lang="en-US" smtClean="0"/>
              <a:pPr/>
              <a:t>9</a:t>
            </a:fld>
            <a:endParaRPr lang="en-US"/>
          </a:p>
        </p:txBody>
      </p:sp>
      <p:sp>
        <p:nvSpPr>
          <p:cNvPr id="3" name="Title 2">
            <a:extLst>
              <a:ext uri="{FF2B5EF4-FFF2-40B4-BE49-F238E27FC236}">
                <a16:creationId xmlns:a16="http://schemas.microsoft.com/office/drawing/2014/main" id="{F7E765CA-8355-4850-6513-4455C53D6B5D}"/>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628013350"/>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B2774-6319-F05A-4AD7-15C1A90AE33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95BBA4-A023-E632-56C2-D03D06B91630}"/>
              </a:ext>
            </a:extLst>
          </p:cNvPr>
          <p:cNvSpPr>
            <a:spLocks noGrp="1"/>
          </p:cNvSpPr>
          <p:nvPr>
            <p:ph type="sldNum" sz="quarter" idx="12"/>
          </p:nvPr>
        </p:nvSpPr>
        <p:spPr/>
        <p:txBody>
          <a:bodyPr/>
          <a:lstStyle/>
          <a:p>
            <a:fld id="{9EA0BE3B-158A-4EDF-80DC-E394A0D1600F}" type="slidenum">
              <a:rPr lang="en-US" smtClean="0"/>
              <a:pPr/>
              <a:t>10</a:t>
            </a:fld>
            <a:endParaRPr lang="en-US"/>
          </a:p>
        </p:txBody>
      </p:sp>
      <p:sp>
        <p:nvSpPr>
          <p:cNvPr id="3" name="Title 2">
            <a:extLst>
              <a:ext uri="{FF2B5EF4-FFF2-40B4-BE49-F238E27FC236}">
                <a16:creationId xmlns:a16="http://schemas.microsoft.com/office/drawing/2014/main" id="{1A221ED9-014A-33A1-AD3B-3AAACF9775C6}"/>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132820964"/>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9C897-54FD-9828-FED0-6E53BC2E333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EF4E590-7666-01AC-CF0E-1ABD82A58F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5378" y="1926354"/>
            <a:ext cx="5639826" cy="3170037"/>
          </a:xfrm>
          <a:prstGeom prst="rect">
            <a:avLst/>
          </a:prstGeom>
        </p:spPr>
      </p:pic>
      <p:sp>
        <p:nvSpPr>
          <p:cNvPr id="2" name="Slide Number Placeholder 1">
            <a:extLst>
              <a:ext uri="{FF2B5EF4-FFF2-40B4-BE49-F238E27FC236}">
                <a16:creationId xmlns:a16="http://schemas.microsoft.com/office/drawing/2014/main" id="{2B49D3BB-3D48-02B2-55C9-2EDC396B1CD0}"/>
              </a:ext>
            </a:extLst>
          </p:cNvPr>
          <p:cNvSpPr>
            <a:spLocks noGrp="1"/>
          </p:cNvSpPr>
          <p:nvPr>
            <p:ph type="sldNum" sz="quarter" idx="12"/>
          </p:nvPr>
        </p:nvSpPr>
        <p:spPr/>
        <p:txBody>
          <a:bodyPr/>
          <a:lstStyle/>
          <a:p>
            <a:fld id="{9EA0BE3B-158A-4EDF-80DC-E394A0D1600F}" type="slidenum">
              <a:rPr lang="en-US" smtClean="0"/>
              <a:pPr/>
              <a:t>11</a:t>
            </a:fld>
            <a:endParaRPr lang="en-US"/>
          </a:p>
        </p:txBody>
      </p:sp>
      <p:sp>
        <p:nvSpPr>
          <p:cNvPr id="3" name="Title 2">
            <a:extLst>
              <a:ext uri="{FF2B5EF4-FFF2-40B4-BE49-F238E27FC236}">
                <a16:creationId xmlns:a16="http://schemas.microsoft.com/office/drawing/2014/main" id="{A4BF8DAE-9D1B-F716-6447-417E5EF708CA}"/>
              </a:ext>
            </a:extLst>
          </p:cNvPr>
          <p:cNvSpPr>
            <a:spLocks noGrp="1"/>
          </p:cNvSpPr>
          <p:nvPr>
            <p:ph type="title"/>
          </p:nvPr>
        </p:nvSpPr>
        <p:spPr/>
        <p:txBody>
          <a:bodyPr/>
          <a:lstStyle/>
          <a:p>
            <a:r>
              <a:rPr lang="en-US"/>
              <a:t>Knowledge graphs</a:t>
            </a:r>
          </a:p>
        </p:txBody>
      </p:sp>
      <p:sp>
        <p:nvSpPr>
          <p:cNvPr id="4" name="Content Placeholder 3">
            <a:extLst>
              <a:ext uri="{FF2B5EF4-FFF2-40B4-BE49-F238E27FC236}">
                <a16:creationId xmlns:a16="http://schemas.microsoft.com/office/drawing/2014/main" id="{9C4B3438-27AE-689C-DD7B-5FEB0B8B077E}"/>
              </a:ext>
            </a:extLst>
          </p:cNvPr>
          <p:cNvSpPr>
            <a:spLocks noGrp="1"/>
          </p:cNvSpPr>
          <p:nvPr>
            <p:ph sz="quarter" idx="13"/>
          </p:nvPr>
        </p:nvSpPr>
        <p:spPr>
          <a:xfrm>
            <a:off x="235077" y="878622"/>
            <a:ext cx="4256715" cy="4752157"/>
          </a:xfrm>
        </p:spPr>
        <p:txBody>
          <a:bodyPr/>
          <a:lstStyle/>
          <a:p>
            <a:pPr marL="0" indent="0">
              <a:buNone/>
            </a:pPr>
            <a:r>
              <a:rPr lang="vi-VN" sz="1600">
                <a:latin typeface="cal"/>
              </a:rPr>
              <a:t>Cấu trúc cơ bản: graph G=(</a:t>
            </a:r>
            <a:r>
              <a:rPr lang="en-US" sz="1600">
                <a:latin typeface="cal"/>
              </a:rPr>
              <a:t>V</a:t>
            </a:r>
            <a:r>
              <a:rPr lang="vi-VN" sz="1600">
                <a:latin typeface="cal"/>
              </a:rPr>
              <a:t>,E)</a:t>
            </a:r>
          </a:p>
          <a:p>
            <a:pPr>
              <a:buFontTx/>
              <a:buChar char="-"/>
            </a:pPr>
            <a:r>
              <a:rPr lang="vi-VN" sz="1600">
                <a:latin typeface="cal"/>
              </a:rPr>
              <a:t>mỗi </a:t>
            </a:r>
            <a:r>
              <a:rPr lang="en-US" sz="1600">
                <a:latin typeface="cal"/>
              </a:rPr>
              <a:t>node </a:t>
            </a:r>
            <a:r>
              <a:rPr lang="en-US" sz="1600" err="1">
                <a:latin typeface="cal"/>
              </a:rPr>
              <a:t>và</a:t>
            </a:r>
            <a:r>
              <a:rPr lang="en-US" sz="1600">
                <a:latin typeface="cal"/>
              </a:rPr>
              <a:t> edge </a:t>
            </a:r>
            <a:r>
              <a:rPr lang="en-US" sz="1600" err="1">
                <a:latin typeface="cal"/>
              </a:rPr>
              <a:t>đều</a:t>
            </a:r>
            <a:r>
              <a:rPr lang="en-US" sz="1600">
                <a:latin typeface="cal"/>
              </a:rPr>
              <a:t> </a:t>
            </a:r>
            <a:r>
              <a:rPr lang="en-US" sz="1600" err="1">
                <a:latin typeface="cal"/>
              </a:rPr>
              <a:t>mang</a:t>
            </a:r>
            <a:r>
              <a:rPr lang="en-US" sz="1600">
                <a:latin typeface="cal"/>
              </a:rPr>
              <a:t> </a:t>
            </a:r>
            <a:r>
              <a:rPr lang="vi-VN" sz="1600">
                <a:latin typeface="cal"/>
              </a:rPr>
              <a:t>ý nghĩa</a:t>
            </a:r>
          </a:p>
          <a:p>
            <a:pPr>
              <a:buFontTx/>
              <a:buChar char="-"/>
            </a:pPr>
            <a:r>
              <a:rPr lang="vi-VN" sz="1600">
                <a:latin typeface="cal"/>
              </a:rPr>
              <a:t>node:</a:t>
            </a:r>
          </a:p>
          <a:p>
            <a:pPr lvl="1">
              <a:buFontTx/>
              <a:buChar char="-"/>
            </a:pPr>
            <a:r>
              <a:rPr lang="vi-VN" sz="1600">
                <a:latin typeface="cal"/>
              </a:rPr>
              <a:t>là </a:t>
            </a:r>
            <a:r>
              <a:rPr lang="en-US" sz="1600">
                <a:latin typeface="cal"/>
              </a:rPr>
              <a:t>Entity </a:t>
            </a:r>
            <a:r>
              <a:rPr lang="vi-VN" sz="1600">
                <a:latin typeface="cal"/>
              </a:rPr>
              <a:t>hoặc concept</a:t>
            </a:r>
          </a:p>
          <a:p>
            <a:pPr lvl="1">
              <a:buFontTx/>
              <a:buChar char="-"/>
            </a:pPr>
            <a:r>
              <a:rPr lang="vi-VN" sz="1600">
                <a:latin typeface="cal"/>
              </a:rPr>
              <a:t>có thể có </a:t>
            </a:r>
            <a:r>
              <a:rPr lang="en-US" sz="1600">
                <a:latin typeface="cal"/>
              </a:rPr>
              <a:t>properties</a:t>
            </a:r>
            <a:endParaRPr lang="vi-VN" sz="1600">
              <a:latin typeface="cal"/>
            </a:endParaRPr>
          </a:p>
          <a:p>
            <a:pPr lvl="1">
              <a:buFontTx/>
              <a:buChar char="-"/>
            </a:pPr>
            <a:r>
              <a:rPr lang="vi-VN" sz="1600">
                <a:latin typeface="cal"/>
              </a:rPr>
              <a:t>Ví dụ:</a:t>
            </a:r>
          </a:p>
          <a:p>
            <a:pPr lvl="2">
              <a:buFontTx/>
              <a:buChar char="-"/>
            </a:pPr>
            <a:r>
              <a:rPr lang="en-US" sz="1600">
                <a:latin typeface="cal"/>
              </a:rPr>
              <a:t>Node ID: </a:t>
            </a:r>
            <a:r>
              <a:rPr lang="en-US" sz="1600" err="1">
                <a:latin typeface="cal"/>
              </a:rPr>
              <a:t>P001</a:t>
            </a:r>
            <a:endParaRPr lang="en-US" sz="1600">
              <a:latin typeface="cal"/>
            </a:endParaRPr>
          </a:p>
          <a:p>
            <a:pPr lvl="2">
              <a:buFontTx/>
              <a:buChar char="-"/>
            </a:pPr>
            <a:r>
              <a:rPr lang="en-US" sz="1600">
                <a:latin typeface="cal"/>
              </a:rPr>
              <a:t>Type: Person</a:t>
            </a:r>
          </a:p>
          <a:p>
            <a:pPr lvl="2">
              <a:buFontTx/>
              <a:buChar char="-"/>
            </a:pPr>
            <a:r>
              <a:rPr lang="vi-VN" sz="1600">
                <a:latin typeface="cal"/>
              </a:rPr>
              <a:t>Properties:</a:t>
            </a:r>
          </a:p>
          <a:p>
            <a:pPr lvl="3">
              <a:buFontTx/>
              <a:buChar char="-"/>
            </a:pPr>
            <a:r>
              <a:rPr lang="vi-VN" sz="1600">
                <a:latin typeface="cal"/>
              </a:rPr>
              <a:t>name: Nguyễn Văn A</a:t>
            </a:r>
          </a:p>
          <a:p>
            <a:pPr lvl="3">
              <a:buFontTx/>
              <a:buChar char="-"/>
            </a:pPr>
            <a:r>
              <a:rPr lang="vi-VN" sz="1600">
                <a:latin typeface="cal"/>
              </a:rPr>
              <a:t>age: 30</a:t>
            </a:r>
          </a:p>
          <a:p>
            <a:pPr marL="285750" indent="-285750">
              <a:buFontTx/>
              <a:buChar char="-"/>
            </a:pPr>
            <a:r>
              <a:rPr lang="vi-VN" sz="1600">
                <a:latin typeface="cal"/>
              </a:rPr>
              <a:t>Edge:</a:t>
            </a:r>
          </a:p>
          <a:p>
            <a:pPr marL="742950" lvl="1" indent="-285750">
              <a:buFontTx/>
              <a:buChar char="-"/>
            </a:pPr>
            <a:r>
              <a:rPr lang="vi-VN" sz="1600">
                <a:latin typeface="cal"/>
              </a:rPr>
              <a:t>là relationship</a:t>
            </a:r>
          </a:p>
          <a:p>
            <a:pPr marL="742950" lvl="1" indent="-285750">
              <a:buFontTx/>
              <a:buChar char="-"/>
            </a:pPr>
            <a:r>
              <a:rPr lang="vi-VN" sz="1600">
                <a:latin typeface="cal"/>
              </a:rPr>
              <a:t>có properties</a:t>
            </a:r>
          </a:p>
          <a:p>
            <a:pPr marL="742950" lvl="1" indent="-285750">
              <a:buFontTx/>
              <a:buChar char="-"/>
            </a:pPr>
            <a:r>
              <a:rPr lang="vi-VN" sz="1600">
                <a:latin typeface="cal"/>
              </a:rPr>
              <a:t>Ví dụ:</a:t>
            </a:r>
          </a:p>
          <a:p>
            <a:pPr marL="1200150" lvl="2" indent="-285750">
              <a:buFontTx/>
              <a:buChar char="-"/>
            </a:pPr>
            <a:r>
              <a:rPr lang="en-US" sz="1600">
                <a:latin typeface="cal"/>
              </a:rPr>
              <a:t>A ──</a:t>
            </a:r>
            <a:r>
              <a:rPr lang="en-US" sz="1600" err="1">
                <a:latin typeface="cal"/>
              </a:rPr>
              <a:t>works_at</a:t>
            </a:r>
            <a:r>
              <a:rPr lang="en-US" sz="1600">
                <a:latin typeface="cal"/>
              </a:rPr>
              <a:t>──&gt; B</a:t>
            </a:r>
            <a:endParaRPr lang="vi-VN" sz="1600">
              <a:latin typeface="cal"/>
            </a:endParaRPr>
          </a:p>
          <a:p>
            <a:pPr marL="1200150" lvl="2" indent="-285750">
              <a:buFontTx/>
              <a:buChar char="-"/>
            </a:pPr>
            <a:r>
              <a:rPr lang="vi-VN" sz="1600">
                <a:latin typeface="cal"/>
              </a:rPr>
              <a:t>(since: 2024, position: Researcher)</a:t>
            </a:r>
            <a:endParaRPr lang="en-US" sz="1600">
              <a:latin typeface="cal"/>
            </a:endParaRPr>
          </a:p>
        </p:txBody>
      </p:sp>
    </p:spTree>
    <p:extLst>
      <p:ext uri="{BB962C8B-B14F-4D97-AF65-F5344CB8AC3E}">
        <p14:creationId xmlns:p14="http://schemas.microsoft.com/office/powerpoint/2010/main" val="267894392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4">
                                            <p:txEl>
                                              <p:pRg st="3" end="3"/>
                                            </p:txEl>
                                          </p:spTgt>
                                        </p:tgtEl>
                                        <p:attrNameLst>
                                          <p:attrName>style.visibility</p:attrName>
                                        </p:attrNameLst>
                                      </p:cBhvr>
                                      <p:to>
                                        <p:strVal val="visible"/>
                                      </p:to>
                                    </p:set>
                                    <p:animEffect transition="in" filter="fade">
                                      <p:cBhvr>
                                        <p:cTn id="26" dur="1000"/>
                                        <p:tgtEl>
                                          <p:spTgt spid="4">
                                            <p:txEl>
                                              <p:pRg st="3" end="3"/>
                                            </p:txEl>
                                          </p:spTgt>
                                        </p:tgtEl>
                                      </p:cBhvr>
                                    </p:animEffect>
                                    <p:anim calcmode="lin" valueType="num">
                                      <p:cBhvr>
                                        <p:cTn id="27"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Effect transition="in" filter="fade">
                                      <p:cBhvr>
                                        <p:cTn id="31" dur="1000"/>
                                        <p:tgtEl>
                                          <p:spTgt spid="4">
                                            <p:txEl>
                                              <p:pRg st="4" end="4"/>
                                            </p:txEl>
                                          </p:spTgt>
                                        </p:tgtEl>
                                      </p:cBhvr>
                                    </p:animEffect>
                                    <p:anim calcmode="lin" valueType="num">
                                      <p:cBhvr>
                                        <p:cTn id="3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4">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4">
                                            <p:txEl>
                                              <p:pRg st="5" end="5"/>
                                            </p:txEl>
                                          </p:spTgt>
                                        </p:tgtEl>
                                        <p:attrNameLst>
                                          <p:attrName>style.visibility</p:attrName>
                                        </p:attrNameLst>
                                      </p:cBhvr>
                                      <p:to>
                                        <p:strVal val="visible"/>
                                      </p:to>
                                    </p:set>
                                    <p:animEffect transition="in" filter="fade">
                                      <p:cBhvr>
                                        <p:cTn id="36" dur="1000"/>
                                        <p:tgtEl>
                                          <p:spTgt spid="4">
                                            <p:txEl>
                                              <p:pRg st="5" end="5"/>
                                            </p:txEl>
                                          </p:spTgt>
                                        </p:tgtEl>
                                      </p:cBhvr>
                                    </p:animEffect>
                                    <p:anim calcmode="lin" valueType="num">
                                      <p:cBhvr>
                                        <p:cTn id="37"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4">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4">
                                            <p:txEl>
                                              <p:pRg st="6" end="6"/>
                                            </p:txEl>
                                          </p:spTgt>
                                        </p:tgtEl>
                                        <p:attrNameLst>
                                          <p:attrName>style.visibility</p:attrName>
                                        </p:attrNameLst>
                                      </p:cBhvr>
                                      <p:to>
                                        <p:strVal val="visible"/>
                                      </p:to>
                                    </p:set>
                                    <p:animEffect transition="in" filter="fade">
                                      <p:cBhvr>
                                        <p:cTn id="41" dur="1000"/>
                                        <p:tgtEl>
                                          <p:spTgt spid="4">
                                            <p:txEl>
                                              <p:pRg st="6" end="6"/>
                                            </p:txEl>
                                          </p:spTgt>
                                        </p:tgtEl>
                                      </p:cBhvr>
                                    </p:animEffect>
                                    <p:anim calcmode="lin" valueType="num">
                                      <p:cBhvr>
                                        <p:cTn id="42"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4">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4">
                                            <p:txEl>
                                              <p:pRg st="7" end="7"/>
                                            </p:txEl>
                                          </p:spTgt>
                                        </p:tgtEl>
                                        <p:attrNameLst>
                                          <p:attrName>style.visibility</p:attrName>
                                        </p:attrNameLst>
                                      </p:cBhvr>
                                      <p:to>
                                        <p:strVal val="visible"/>
                                      </p:to>
                                    </p:set>
                                    <p:animEffect transition="in" filter="fade">
                                      <p:cBhvr>
                                        <p:cTn id="46" dur="1000"/>
                                        <p:tgtEl>
                                          <p:spTgt spid="4">
                                            <p:txEl>
                                              <p:pRg st="7" end="7"/>
                                            </p:txEl>
                                          </p:spTgt>
                                        </p:tgtEl>
                                      </p:cBhvr>
                                    </p:animEffect>
                                    <p:anim calcmode="lin" valueType="num">
                                      <p:cBhvr>
                                        <p:cTn id="47"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4">
                                            <p:txEl>
                                              <p:pRg st="7" end="7"/>
                                            </p:txEl>
                                          </p:spTgt>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4">
                                            <p:txEl>
                                              <p:pRg st="8" end="8"/>
                                            </p:txEl>
                                          </p:spTgt>
                                        </p:tgtEl>
                                        <p:attrNameLst>
                                          <p:attrName>style.visibility</p:attrName>
                                        </p:attrNameLst>
                                      </p:cBhvr>
                                      <p:to>
                                        <p:strVal val="visible"/>
                                      </p:to>
                                    </p:set>
                                    <p:animEffect transition="in" filter="fade">
                                      <p:cBhvr>
                                        <p:cTn id="51" dur="1000"/>
                                        <p:tgtEl>
                                          <p:spTgt spid="4">
                                            <p:txEl>
                                              <p:pRg st="8" end="8"/>
                                            </p:txEl>
                                          </p:spTgt>
                                        </p:tgtEl>
                                      </p:cBhvr>
                                    </p:animEffect>
                                    <p:anim calcmode="lin" valueType="num">
                                      <p:cBhvr>
                                        <p:cTn id="52"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3" dur="1000" fill="hold"/>
                                        <p:tgtEl>
                                          <p:spTgt spid="4">
                                            <p:txEl>
                                              <p:pRg st="8" end="8"/>
                                            </p:txEl>
                                          </p:spTgt>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4">
                                            <p:txEl>
                                              <p:pRg st="9" end="9"/>
                                            </p:txEl>
                                          </p:spTgt>
                                        </p:tgtEl>
                                        <p:attrNameLst>
                                          <p:attrName>style.visibility</p:attrName>
                                        </p:attrNameLst>
                                      </p:cBhvr>
                                      <p:to>
                                        <p:strVal val="visible"/>
                                      </p:to>
                                    </p:set>
                                    <p:animEffect transition="in" filter="fade">
                                      <p:cBhvr>
                                        <p:cTn id="56" dur="1000"/>
                                        <p:tgtEl>
                                          <p:spTgt spid="4">
                                            <p:txEl>
                                              <p:pRg st="9" end="9"/>
                                            </p:txEl>
                                          </p:spTgt>
                                        </p:tgtEl>
                                      </p:cBhvr>
                                    </p:animEffect>
                                    <p:anim calcmode="lin" valueType="num">
                                      <p:cBhvr>
                                        <p:cTn id="57"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9" end="9"/>
                                            </p:txEl>
                                          </p:spTgt>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4">
                                            <p:txEl>
                                              <p:pRg st="10" end="10"/>
                                            </p:txEl>
                                          </p:spTgt>
                                        </p:tgtEl>
                                        <p:attrNameLst>
                                          <p:attrName>style.visibility</p:attrName>
                                        </p:attrNameLst>
                                      </p:cBhvr>
                                      <p:to>
                                        <p:strVal val="visible"/>
                                      </p:to>
                                    </p:set>
                                    <p:animEffect transition="in" filter="fade">
                                      <p:cBhvr>
                                        <p:cTn id="61" dur="1000"/>
                                        <p:tgtEl>
                                          <p:spTgt spid="4">
                                            <p:txEl>
                                              <p:pRg st="10" end="10"/>
                                            </p:txEl>
                                          </p:spTgt>
                                        </p:tgtEl>
                                      </p:cBhvr>
                                    </p:animEffect>
                                    <p:anim calcmode="lin" valueType="num">
                                      <p:cBhvr>
                                        <p:cTn id="62"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63"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4">
                                            <p:txEl>
                                              <p:pRg st="11" end="11"/>
                                            </p:txEl>
                                          </p:spTgt>
                                        </p:tgtEl>
                                        <p:attrNameLst>
                                          <p:attrName>style.visibility</p:attrName>
                                        </p:attrNameLst>
                                      </p:cBhvr>
                                      <p:to>
                                        <p:strVal val="visible"/>
                                      </p:to>
                                    </p:set>
                                    <p:animEffect transition="in" filter="fade">
                                      <p:cBhvr>
                                        <p:cTn id="68" dur="1000"/>
                                        <p:tgtEl>
                                          <p:spTgt spid="4">
                                            <p:txEl>
                                              <p:pRg st="11" end="11"/>
                                            </p:txEl>
                                          </p:spTgt>
                                        </p:tgtEl>
                                      </p:cBhvr>
                                    </p:animEffect>
                                    <p:anim calcmode="lin" valueType="num">
                                      <p:cBhvr>
                                        <p:cTn id="69"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70" dur="1000" fill="hold"/>
                                        <p:tgtEl>
                                          <p:spTgt spid="4">
                                            <p:txEl>
                                              <p:pRg st="11" end="11"/>
                                            </p:txEl>
                                          </p:spTgt>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4">
                                            <p:txEl>
                                              <p:pRg st="12" end="12"/>
                                            </p:txEl>
                                          </p:spTgt>
                                        </p:tgtEl>
                                        <p:attrNameLst>
                                          <p:attrName>style.visibility</p:attrName>
                                        </p:attrNameLst>
                                      </p:cBhvr>
                                      <p:to>
                                        <p:strVal val="visible"/>
                                      </p:to>
                                    </p:set>
                                    <p:animEffect transition="in" filter="fade">
                                      <p:cBhvr>
                                        <p:cTn id="73" dur="1000"/>
                                        <p:tgtEl>
                                          <p:spTgt spid="4">
                                            <p:txEl>
                                              <p:pRg st="12" end="12"/>
                                            </p:txEl>
                                          </p:spTgt>
                                        </p:tgtEl>
                                      </p:cBhvr>
                                    </p:animEffect>
                                    <p:anim calcmode="lin" valueType="num">
                                      <p:cBhvr>
                                        <p:cTn id="74"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75" dur="1000" fill="hold"/>
                                        <p:tgtEl>
                                          <p:spTgt spid="4">
                                            <p:txEl>
                                              <p:pRg st="12" end="12"/>
                                            </p:txEl>
                                          </p:spTgt>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4">
                                            <p:txEl>
                                              <p:pRg st="13" end="13"/>
                                            </p:txEl>
                                          </p:spTgt>
                                        </p:tgtEl>
                                        <p:attrNameLst>
                                          <p:attrName>style.visibility</p:attrName>
                                        </p:attrNameLst>
                                      </p:cBhvr>
                                      <p:to>
                                        <p:strVal val="visible"/>
                                      </p:to>
                                    </p:set>
                                    <p:animEffect transition="in" filter="fade">
                                      <p:cBhvr>
                                        <p:cTn id="78" dur="1000"/>
                                        <p:tgtEl>
                                          <p:spTgt spid="4">
                                            <p:txEl>
                                              <p:pRg st="13" end="13"/>
                                            </p:txEl>
                                          </p:spTgt>
                                        </p:tgtEl>
                                      </p:cBhvr>
                                    </p:animEffect>
                                    <p:anim calcmode="lin" valueType="num">
                                      <p:cBhvr>
                                        <p:cTn id="79" dur="1000" fill="hold"/>
                                        <p:tgtEl>
                                          <p:spTgt spid="4">
                                            <p:txEl>
                                              <p:pRg st="13" end="13"/>
                                            </p:txEl>
                                          </p:spTgt>
                                        </p:tgtEl>
                                        <p:attrNameLst>
                                          <p:attrName>ppt_x</p:attrName>
                                        </p:attrNameLst>
                                      </p:cBhvr>
                                      <p:tavLst>
                                        <p:tav tm="0">
                                          <p:val>
                                            <p:strVal val="#ppt_x"/>
                                          </p:val>
                                        </p:tav>
                                        <p:tav tm="100000">
                                          <p:val>
                                            <p:strVal val="#ppt_x"/>
                                          </p:val>
                                        </p:tav>
                                      </p:tavLst>
                                    </p:anim>
                                    <p:anim calcmode="lin" valueType="num">
                                      <p:cBhvr>
                                        <p:cTn id="80" dur="1000" fill="hold"/>
                                        <p:tgtEl>
                                          <p:spTgt spid="4">
                                            <p:txEl>
                                              <p:pRg st="13" end="13"/>
                                            </p:txEl>
                                          </p:spTgt>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4">
                                            <p:txEl>
                                              <p:pRg st="14" end="14"/>
                                            </p:txEl>
                                          </p:spTgt>
                                        </p:tgtEl>
                                        <p:attrNameLst>
                                          <p:attrName>style.visibility</p:attrName>
                                        </p:attrNameLst>
                                      </p:cBhvr>
                                      <p:to>
                                        <p:strVal val="visible"/>
                                      </p:to>
                                    </p:set>
                                    <p:animEffect transition="in" filter="fade">
                                      <p:cBhvr>
                                        <p:cTn id="83" dur="1000"/>
                                        <p:tgtEl>
                                          <p:spTgt spid="4">
                                            <p:txEl>
                                              <p:pRg st="14" end="14"/>
                                            </p:txEl>
                                          </p:spTgt>
                                        </p:tgtEl>
                                      </p:cBhvr>
                                    </p:animEffect>
                                    <p:anim calcmode="lin" valueType="num">
                                      <p:cBhvr>
                                        <p:cTn id="84" dur="1000" fill="hold"/>
                                        <p:tgtEl>
                                          <p:spTgt spid="4">
                                            <p:txEl>
                                              <p:pRg st="14" end="14"/>
                                            </p:txEl>
                                          </p:spTgt>
                                        </p:tgtEl>
                                        <p:attrNameLst>
                                          <p:attrName>ppt_x</p:attrName>
                                        </p:attrNameLst>
                                      </p:cBhvr>
                                      <p:tavLst>
                                        <p:tav tm="0">
                                          <p:val>
                                            <p:strVal val="#ppt_x"/>
                                          </p:val>
                                        </p:tav>
                                        <p:tav tm="100000">
                                          <p:val>
                                            <p:strVal val="#ppt_x"/>
                                          </p:val>
                                        </p:tav>
                                      </p:tavLst>
                                    </p:anim>
                                    <p:anim calcmode="lin" valueType="num">
                                      <p:cBhvr>
                                        <p:cTn id="85" dur="1000" fill="hold"/>
                                        <p:tgtEl>
                                          <p:spTgt spid="4">
                                            <p:txEl>
                                              <p:pRg st="14" end="14"/>
                                            </p:txEl>
                                          </p:spTgt>
                                        </p:tgtEl>
                                        <p:attrNameLst>
                                          <p:attrName>ppt_y</p:attrName>
                                        </p:attrNameLst>
                                      </p:cBhvr>
                                      <p:tavLst>
                                        <p:tav tm="0">
                                          <p:val>
                                            <p:strVal val="#ppt_y+.1"/>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4">
                                            <p:txEl>
                                              <p:pRg st="15" end="15"/>
                                            </p:txEl>
                                          </p:spTgt>
                                        </p:tgtEl>
                                        <p:attrNameLst>
                                          <p:attrName>style.visibility</p:attrName>
                                        </p:attrNameLst>
                                      </p:cBhvr>
                                      <p:to>
                                        <p:strVal val="visible"/>
                                      </p:to>
                                    </p:set>
                                    <p:animEffect transition="in" filter="fade">
                                      <p:cBhvr>
                                        <p:cTn id="88" dur="1000"/>
                                        <p:tgtEl>
                                          <p:spTgt spid="4">
                                            <p:txEl>
                                              <p:pRg st="15" end="15"/>
                                            </p:txEl>
                                          </p:spTgt>
                                        </p:tgtEl>
                                      </p:cBhvr>
                                    </p:animEffect>
                                    <p:anim calcmode="lin" valueType="num">
                                      <p:cBhvr>
                                        <p:cTn id="89" dur="1000" fill="hold"/>
                                        <p:tgtEl>
                                          <p:spTgt spid="4">
                                            <p:txEl>
                                              <p:pRg st="15" end="15"/>
                                            </p:txEl>
                                          </p:spTgt>
                                        </p:tgtEl>
                                        <p:attrNameLst>
                                          <p:attrName>ppt_x</p:attrName>
                                        </p:attrNameLst>
                                      </p:cBhvr>
                                      <p:tavLst>
                                        <p:tav tm="0">
                                          <p:val>
                                            <p:strVal val="#ppt_x"/>
                                          </p:val>
                                        </p:tav>
                                        <p:tav tm="100000">
                                          <p:val>
                                            <p:strVal val="#ppt_x"/>
                                          </p:val>
                                        </p:tav>
                                      </p:tavLst>
                                    </p:anim>
                                    <p:anim calcmode="lin" valueType="num">
                                      <p:cBhvr>
                                        <p:cTn id="90" dur="1000" fill="hold"/>
                                        <p:tgtEl>
                                          <p:spTgt spid="4">
                                            <p:txEl>
                                              <p:pRg st="15" end="15"/>
                                            </p:txEl>
                                          </p:spTgt>
                                        </p:tgtEl>
                                        <p:attrNameLst>
                                          <p:attrName>ppt_y</p:attrName>
                                        </p:attrNameLst>
                                      </p:cBhvr>
                                      <p:tavLst>
                                        <p:tav tm="0">
                                          <p:val>
                                            <p:strVal val="#ppt_y+.1"/>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4">
                                            <p:txEl>
                                              <p:pRg st="16" end="16"/>
                                            </p:txEl>
                                          </p:spTgt>
                                        </p:tgtEl>
                                        <p:attrNameLst>
                                          <p:attrName>style.visibility</p:attrName>
                                        </p:attrNameLst>
                                      </p:cBhvr>
                                      <p:to>
                                        <p:strVal val="visible"/>
                                      </p:to>
                                    </p:set>
                                    <p:animEffect transition="in" filter="fade">
                                      <p:cBhvr>
                                        <p:cTn id="93" dur="1000"/>
                                        <p:tgtEl>
                                          <p:spTgt spid="4">
                                            <p:txEl>
                                              <p:pRg st="16" end="16"/>
                                            </p:txEl>
                                          </p:spTgt>
                                        </p:tgtEl>
                                      </p:cBhvr>
                                    </p:animEffect>
                                    <p:anim calcmode="lin" valueType="num">
                                      <p:cBhvr>
                                        <p:cTn id="94" dur="1000" fill="hold"/>
                                        <p:tgtEl>
                                          <p:spTgt spid="4">
                                            <p:txEl>
                                              <p:pRg st="16" end="16"/>
                                            </p:txEl>
                                          </p:spTgt>
                                        </p:tgtEl>
                                        <p:attrNameLst>
                                          <p:attrName>ppt_x</p:attrName>
                                        </p:attrNameLst>
                                      </p:cBhvr>
                                      <p:tavLst>
                                        <p:tav tm="0">
                                          <p:val>
                                            <p:strVal val="#ppt_x"/>
                                          </p:val>
                                        </p:tav>
                                        <p:tav tm="100000">
                                          <p:val>
                                            <p:strVal val="#ppt_x"/>
                                          </p:val>
                                        </p:tav>
                                      </p:tavLst>
                                    </p:anim>
                                    <p:anim calcmode="lin" valueType="num">
                                      <p:cBhvr>
                                        <p:cTn id="95" dur="1000" fill="hold"/>
                                        <p:tgtEl>
                                          <p:spTgt spid="4">
                                            <p:txEl>
                                              <p:pRg st="16" end="1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1B433-86B6-AB9E-EBC3-80CC8025228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EC9E13D8-9486-0971-E219-D2F624D1C8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1589" y="2005263"/>
            <a:ext cx="4577334" cy="3561939"/>
          </a:xfrm>
          <a:prstGeom prst="rect">
            <a:avLst/>
          </a:prstGeom>
        </p:spPr>
      </p:pic>
      <p:sp>
        <p:nvSpPr>
          <p:cNvPr id="2" name="Slide Number Placeholder 1">
            <a:extLst>
              <a:ext uri="{FF2B5EF4-FFF2-40B4-BE49-F238E27FC236}">
                <a16:creationId xmlns:a16="http://schemas.microsoft.com/office/drawing/2014/main" id="{83F47064-9AF4-8DD4-AB98-5B65DFA4992C}"/>
              </a:ext>
            </a:extLst>
          </p:cNvPr>
          <p:cNvSpPr>
            <a:spLocks noGrp="1"/>
          </p:cNvSpPr>
          <p:nvPr>
            <p:ph type="sldNum" sz="quarter" idx="12"/>
          </p:nvPr>
        </p:nvSpPr>
        <p:spPr/>
        <p:txBody>
          <a:bodyPr/>
          <a:lstStyle/>
          <a:p>
            <a:fld id="{9EA0BE3B-158A-4EDF-80DC-E394A0D1600F}" type="slidenum">
              <a:rPr lang="en-US" smtClean="0"/>
              <a:pPr/>
              <a:t>12</a:t>
            </a:fld>
            <a:endParaRPr lang="en-US"/>
          </a:p>
        </p:txBody>
      </p:sp>
      <p:sp>
        <p:nvSpPr>
          <p:cNvPr id="3" name="Title 2">
            <a:extLst>
              <a:ext uri="{FF2B5EF4-FFF2-40B4-BE49-F238E27FC236}">
                <a16:creationId xmlns:a16="http://schemas.microsoft.com/office/drawing/2014/main" id="{D438E692-05F1-7DD6-FB1F-BDBCE4867340}"/>
              </a:ext>
            </a:extLst>
          </p:cNvPr>
          <p:cNvSpPr>
            <a:spLocks noGrp="1"/>
          </p:cNvSpPr>
          <p:nvPr>
            <p:ph type="title"/>
          </p:nvPr>
        </p:nvSpPr>
        <p:spPr/>
        <p:txBody>
          <a:bodyPr/>
          <a:lstStyle/>
          <a:p>
            <a:r>
              <a:rPr lang="en-US"/>
              <a:t>Knowledge graphs</a:t>
            </a:r>
          </a:p>
        </p:txBody>
      </p:sp>
      <p:sp>
        <p:nvSpPr>
          <p:cNvPr id="4" name="Content Placeholder 3">
            <a:extLst>
              <a:ext uri="{FF2B5EF4-FFF2-40B4-BE49-F238E27FC236}">
                <a16:creationId xmlns:a16="http://schemas.microsoft.com/office/drawing/2014/main" id="{AA89AD85-C64C-78C4-228F-49F4933354BA}"/>
              </a:ext>
            </a:extLst>
          </p:cNvPr>
          <p:cNvSpPr>
            <a:spLocks noGrp="1"/>
          </p:cNvSpPr>
          <p:nvPr>
            <p:ph sz="quarter" idx="13"/>
          </p:nvPr>
        </p:nvSpPr>
        <p:spPr>
          <a:xfrm>
            <a:off x="112854" y="1101877"/>
            <a:ext cx="4577334" cy="4216081"/>
          </a:xfrm>
        </p:spPr>
        <p:txBody>
          <a:bodyPr/>
          <a:lstStyle/>
          <a:p>
            <a:pPr>
              <a:buFontTx/>
              <a:buChar char="-"/>
            </a:pPr>
            <a:r>
              <a:rPr lang="vi-VN" sz="1600">
                <a:latin typeface="Calibri" panose="020F0502020204030204" pitchFamily="34" charset="0"/>
                <a:ea typeface="Calibri" panose="020F0502020204030204" pitchFamily="34" charset="0"/>
                <a:cs typeface="Calibri" panose="020F0502020204030204" pitchFamily="34" charset="0"/>
              </a:rPr>
              <a:t>KG thường được biểu diễn dưới dạng triple: </a:t>
            </a:r>
          </a:p>
          <a:p>
            <a:pPr lvl="1">
              <a:buFontTx/>
              <a:buChar char="-"/>
            </a:pPr>
            <a:r>
              <a:rPr lang="vi-VN" sz="1600">
                <a:latin typeface="Calibri" panose="020F0502020204030204" pitchFamily="34" charset="0"/>
                <a:ea typeface="Calibri" panose="020F0502020204030204" pitchFamily="34" charset="0"/>
                <a:cs typeface="Calibri" panose="020F0502020204030204" pitchFamily="34" charset="0"/>
              </a:rPr>
              <a:t>(Subject, Predicate, Object)</a:t>
            </a:r>
          </a:p>
          <a:p>
            <a:pPr>
              <a:buFontTx/>
              <a:buChar char="-"/>
            </a:pPr>
            <a:r>
              <a:rPr lang="vi-VN" sz="1600">
                <a:latin typeface="Calibri" panose="020F0502020204030204" pitchFamily="34" charset="0"/>
                <a:ea typeface="Calibri" panose="020F0502020204030204" pitchFamily="34" charset="0"/>
                <a:cs typeface="Calibri" panose="020F0502020204030204" pitchFamily="34" charset="0"/>
              </a:rPr>
              <a:t>Schema:</a:t>
            </a:r>
          </a:p>
          <a:p>
            <a:pPr lvl="1">
              <a:buFontTx/>
              <a:buChar char="-"/>
            </a:pPr>
            <a:r>
              <a:rPr lang="en-US" sz="1600" err="1">
                <a:latin typeface="Calibri" panose="020F0502020204030204" pitchFamily="34" charset="0"/>
                <a:ea typeface="Calibri" panose="020F0502020204030204" pitchFamily="34" charset="0"/>
                <a:cs typeface="Calibri" panose="020F0502020204030204" pitchFamily="34" charset="0"/>
              </a:rPr>
              <a:t>Là</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định</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nghĩa</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cấu</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trúc</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cho</a:t>
            </a:r>
            <a:r>
              <a:rPr lang="en-US" sz="1600">
                <a:latin typeface="Calibri" panose="020F0502020204030204" pitchFamily="34" charset="0"/>
                <a:ea typeface="Calibri" panose="020F0502020204030204" pitchFamily="34" charset="0"/>
                <a:cs typeface="Calibri" panose="020F0502020204030204" pitchFamily="34" charset="0"/>
              </a:rPr>
              <a:t> KG — </a:t>
            </a:r>
            <a:r>
              <a:rPr lang="en-US" sz="1600" err="1">
                <a:latin typeface="Calibri" panose="020F0502020204030204" pitchFamily="34" charset="0"/>
                <a:ea typeface="Calibri" panose="020F0502020204030204" pitchFamily="34" charset="0"/>
                <a:cs typeface="Calibri" panose="020F0502020204030204" pitchFamily="34" charset="0"/>
              </a:rPr>
              <a:t>quy</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định</a:t>
            </a:r>
            <a:r>
              <a:rPr lang="en-US" sz="1600">
                <a:latin typeface="Calibri" panose="020F0502020204030204" pitchFamily="34" charset="0"/>
                <a:ea typeface="Calibri" panose="020F0502020204030204" pitchFamily="34" charset="0"/>
                <a:cs typeface="Calibri" panose="020F0502020204030204" pitchFamily="34" charset="0"/>
              </a:rPr>
              <a:t> entity </a:t>
            </a:r>
            <a:r>
              <a:rPr lang="en-US" sz="1600" err="1">
                <a:latin typeface="Calibri" panose="020F0502020204030204" pitchFamily="34" charset="0"/>
                <a:ea typeface="Calibri" panose="020F0502020204030204" pitchFamily="34" charset="0"/>
                <a:cs typeface="Calibri" panose="020F0502020204030204" pitchFamily="34" charset="0"/>
              </a:rPr>
              <a:t>nào</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được</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có</a:t>
            </a:r>
            <a:r>
              <a:rPr lang="en-US" sz="1600">
                <a:latin typeface="Calibri" panose="020F0502020204030204" pitchFamily="34" charset="0"/>
                <a:ea typeface="Calibri" panose="020F0502020204030204" pitchFamily="34" charset="0"/>
                <a:cs typeface="Calibri" panose="020F0502020204030204" pitchFamily="34" charset="0"/>
              </a:rPr>
              <a:t> type </a:t>
            </a:r>
            <a:r>
              <a:rPr lang="en-US" sz="1600" err="1">
                <a:latin typeface="Calibri" panose="020F0502020204030204" pitchFamily="34" charset="0"/>
                <a:ea typeface="Calibri" panose="020F0502020204030204" pitchFamily="34" charset="0"/>
                <a:cs typeface="Calibri" panose="020F0502020204030204" pitchFamily="34" charset="0"/>
              </a:rPr>
              <a:t>gì</a:t>
            </a:r>
            <a:r>
              <a:rPr lang="en-US" sz="1600">
                <a:latin typeface="Calibri" panose="020F0502020204030204" pitchFamily="34" charset="0"/>
                <a:ea typeface="Calibri" panose="020F0502020204030204" pitchFamily="34" charset="0"/>
                <a:cs typeface="Calibri" panose="020F0502020204030204" pitchFamily="34" charset="0"/>
              </a:rPr>
              <a:t>, property </a:t>
            </a:r>
            <a:r>
              <a:rPr lang="en-US" sz="1600" err="1">
                <a:latin typeface="Calibri" panose="020F0502020204030204" pitchFamily="34" charset="0"/>
                <a:ea typeface="Calibri" panose="020F0502020204030204" pitchFamily="34" charset="0"/>
                <a:cs typeface="Calibri" panose="020F0502020204030204" pitchFamily="34" charset="0"/>
              </a:rPr>
              <a:t>nào</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hợp</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lệ</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cho</a:t>
            </a:r>
            <a:r>
              <a:rPr lang="en-US" sz="1600">
                <a:latin typeface="Calibri" panose="020F0502020204030204" pitchFamily="34" charset="0"/>
                <a:ea typeface="Calibri" panose="020F0502020204030204" pitchFamily="34" charset="0"/>
                <a:cs typeface="Calibri" panose="020F0502020204030204" pitchFamily="34" charset="0"/>
              </a:rPr>
              <a:t> type </a:t>
            </a:r>
            <a:r>
              <a:rPr lang="en-US" sz="1600" err="1">
                <a:latin typeface="Calibri" panose="020F0502020204030204" pitchFamily="34" charset="0"/>
                <a:ea typeface="Calibri" panose="020F0502020204030204" pitchFamily="34" charset="0"/>
                <a:cs typeface="Calibri" panose="020F0502020204030204" pitchFamily="34" charset="0"/>
              </a:rPr>
              <a:t>nào</a:t>
            </a:r>
            <a:r>
              <a:rPr lang="en-US" sz="1600">
                <a:latin typeface="Calibri" panose="020F0502020204030204" pitchFamily="34" charset="0"/>
                <a:ea typeface="Calibri" panose="020F0502020204030204" pitchFamily="34" charset="0"/>
                <a:cs typeface="Calibri" panose="020F0502020204030204" pitchFamily="34" charset="0"/>
              </a:rPr>
              <a:t>.</a:t>
            </a:r>
            <a:endParaRPr lang="vi-VN" sz="1600">
              <a:latin typeface="Calibri" panose="020F0502020204030204" pitchFamily="34" charset="0"/>
              <a:ea typeface="Calibri" panose="020F0502020204030204" pitchFamily="34" charset="0"/>
              <a:cs typeface="Calibri" panose="020F0502020204030204" pitchFamily="34" charset="0"/>
            </a:endParaRPr>
          </a:p>
          <a:p>
            <a:pPr lvl="1">
              <a:buFontTx/>
              <a:buChar char="-"/>
            </a:pPr>
            <a:r>
              <a:rPr lang="vi-VN" sz="1600">
                <a:latin typeface="Calibri" panose="020F0502020204030204" pitchFamily="34" charset="0"/>
                <a:ea typeface="Calibri" panose="020F0502020204030204" pitchFamily="34" charset="0"/>
                <a:cs typeface="Calibri" panose="020F0502020204030204" pitchFamily="34" charset="0"/>
              </a:rPr>
              <a:t>Ví dụ: person có thể có birth_year, không thể có course_code</a:t>
            </a:r>
          </a:p>
          <a:p>
            <a:pPr>
              <a:buFontTx/>
              <a:buChar char="-"/>
            </a:pPr>
            <a:r>
              <a:rPr lang="vi-VN" sz="1600">
                <a:latin typeface="Calibri" panose="020F0502020204030204" pitchFamily="34" charset="0"/>
                <a:ea typeface="Calibri" panose="020F0502020204030204" pitchFamily="34" charset="0"/>
                <a:cs typeface="Calibri" panose="020F0502020204030204" pitchFamily="34" charset="0"/>
              </a:rPr>
              <a:t>Ontology:</a:t>
            </a:r>
          </a:p>
          <a:p>
            <a:pPr lvl="1">
              <a:buFontTx/>
              <a:buChar char="-"/>
            </a:pPr>
            <a:r>
              <a:rPr lang="vi-VN" sz="1600">
                <a:latin typeface="Calibri" panose="020F0502020204030204" pitchFamily="34" charset="0"/>
                <a:ea typeface="Calibri" panose="020F0502020204030204" pitchFamily="34" charset="0"/>
                <a:cs typeface="Calibri" panose="020F0502020204030204" pitchFamily="34" charset="0"/>
              </a:rPr>
              <a:t>Là schema+sematic+logic</a:t>
            </a:r>
          </a:p>
          <a:p>
            <a:pPr lvl="2">
              <a:buFontTx/>
              <a:buChar char="-"/>
            </a:pPr>
            <a:r>
              <a:rPr lang="vi-VN" sz="1600">
                <a:latin typeface="Calibri" panose="020F0502020204030204" pitchFamily="34" charset="0"/>
                <a:ea typeface="Calibri" panose="020F0502020204030204" pitchFamily="34" charset="0"/>
                <a:cs typeface="Calibri" panose="020F0502020204030204" pitchFamily="34" charset="0"/>
              </a:rPr>
              <a:t>Định nghĩa hierarchy</a:t>
            </a:r>
          </a:p>
          <a:p>
            <a:pPr lvl="3">
              <a:buFontTx/>
              <a:buChar char="-"/>
            </a:pPr>
            <a:r>
              <a:rPr lang="vi-VN" sz="1600">
                <a:latin typeface="Calibri" panose="020F0502020204030204" pitchFamily="34" charset="0"/>
                <a:ea typeface="Calibri" panose="020F0502020204030204" pitchFamily="34" charset="0"/>
                <a:cs typeface="Calibri" panose="020F0502020204030204" pitchFamily="34" charset="0"/>
              </a:rPr>
              <a:t>ví dụ: student là subclass của person</a:t>
            </a:r>
          </a:p>
          <a:p>
            <a:pPr lvl="2">
              <a:buFontTx/>
              <a:buChar char="-"/>
            </a:pPr>
            <a:r>
              <a:rPr lang="en-US" sz="1600" err="1">
                <a:latin typeface="Calibri" panose="020F0502020204030204" pitchFamily="34" charset="0"/>
                <a:ea typeface="Calibri" panose="020F0502020204030204" pitchFamily="34" charset="0"/>
                <a:cs typeface="Calibri" panose="020F0502020204030204" pitchFamily="34" charset="0"/>
              </a:rPr>
              <a:t>Ràng</a:t>
            </a:r>
            <a:r>
              <a:rPr lang="en-US" sz="1600">
                <a:latin typeface="Calibri" panose="020F0502020204030204" pitchFamily="34" charset="0"/>
                <a:ea typeface="Calibri" panose="020F0502020204030204" pitchFamily="34" charset="0"/>
                <a:cs typeface="Calibri" panose="020F0502020204030204" pitchFamily="34" charset="0"/>
              </a:rPr>
              <a:t> </a:t>
            </a:r>
            <a:r>
              <a:rPr lang="en-US" sz="1600" err="1">
                <a:latin typeface="Calibri" panose="020F0502020204030204" pitchFamily="34" charset="0"/>
                <a:ea typeface="Calibri" panose="020F0502020204030204" pitchFamily="34" charset="0"/>
                <a:cs typeface="Calibri" panose="020F0502020204030204" pitchFamily="34" charset="0"/>
              </a:rPr>
              <a:t>buộc</a:t>
            </a:r>
            <a:r>
              <a:rPr lang="en-US" sz="1600">
                <a:latin typeface="Calibri" panose="020F0502020204030204" pitchFamily="34" charset="0"/>
                <a:ea typeface="Calibri" panose="020F0502020204030204" pitchFamily="34" charset="0"/>
                <a:cs typeface="Calibri" panose="020F0502020204030204" pitchFamily="34" charset="0"/>
              </a:rPr>
              <a:t> </a:t>
            </a:r>
            <a:r>
              <a:rPr lang="vi-VN" sz="1600">
                <a:latin typeface="Calibri" panose="020F0502020204030204" pitchFamily="34" charset="0"/>
                <a:ea typeface="Calibri" panose="020F0502020204030204" pitchFamily="34" charset="0"/>
                <a:cs typeface="Calibri" panose="020F0502020204030204" pitchFamily="34" charset="0"/>
              </a:rPr>
              <a:t>logic</a:t>
            </a:r>
          </a:p>
          <a:p>
            <a:pPr lvl="3">
              <a:buFontTx/>
              <a:buChar char="-"/>
            </a:pPr>
            <a:r>
              <a:rPr lang="vi-VN" sz="1600">
                <a:latin typeface="Calibri" panose="020F0502020204030204" pitchFamily="34" charset="0"/>
                <a:ea typeface="Calibri" panose="020F0502020204030204" pitchFamily="34" charset="0"/>
                <a:cs typeface="Calibri" panose="020F0502020204030204" pitchFamily="34" charset="0"/>
              </a:rPr>
              <a:t>ví dụ: a cưới b thì b cưới a</a:t>
            </a:r>
          </a:p>
          <a:p>
            <a:pPr lvl="2">
              <a:buFontTx/>
              <a:buChar char="-"/>
            </a:pPr>
            <a:r>
              <a:rPr lang="en-US" sz="1600">
                <a:latin typeface="Calibri" panose="020F0502020204030204" pitchFamily="34" charset="0"/>
                <a:ea typeface="Calibri" panose="020F0502020204030204" pitchFamily="34" charset="0"/>
                <a:cs typeface="Calibri" panose="020F0502020204030204" pitchFamily="34" charset="0"/>
              </a:rPr>
              <a:t>Disjoint </a:t>
            </a:r>
            <a:r>
              <a:rPr lang="vi-VN" sz="1600">
                <a:latin typeface="Calibri" panose="020F0502020204030204" pitchFamily="34" charset="0"/>
                <a:ea typeface="Calibri" panose="020F0502020204030204" pitchFamily="34" charset="0"/>
                <a:cs typeface="Calibri" panose="020F0502020204030204" pitchFamily="34" charset="0"/>
              </a:rPr>
              <a:t>classes: person và cat là 2 loại tách biệt, 1 entity không thể vừa là person vừa là cat</a:t>
            </a:r>
          </a:p>
          <a:p>
            <a:pPr lvl="2">
              <a:buFontTx/>
              <a:buChar char="-"/>
            </a:pPr>
            <a:r>
              <a:rPr lang="vi-VN" sz="1600">
                <a:latin typeface="Calibri" panose="020F0502020204030204" pitchFamily="34" charset="0"/>
                <a:ea typeface="Calibri" panose="020F0502020204030204" pitchFamily="34" charset="0"/>
                <a:cs typeface="Calibri" panose="020F0502020204030204" pitchFamily="34" charset="0"/>
              </a:rPr>
              <a:t>cardinality: 1 person có 1 birth_year</a:t>
            </a:r>
          </a:p>
          <a:p>
            <a:pPr lvl="2">
              <a:buFontTx/>
              <a:buChar char="-"/>
            </a:pPr>
            <a:endParaRPr lang="vi-VN" sz="16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715929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fade">
                                      <p:cBhvr>
                                        <p:cTn id="24" dur="1000"/>
                                        <p:tgtEl>
                                          <p:spTgt spid="4">
                                            <p:txEl>
                                              <p:pRg st="3" end="3"/>
                                            </p:txEl>
                                          </p:spTgt>
                                        </p:tgtEl>
                                      </p:cBhvr>
                                    </p:animEffect>
                                    <p:anim calcmode="lin" valueType="num">
                                      <p:cBhvr>
                                        <p:cTn id="25"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4">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Effect transition="in" filter="fade">
                                      <p:cBhvr>
                                        <p:cTn id="29" dur="1000"/>
                                        <p:tgtEl>
                                          <p:spTgt spid="4">
                                            <p:txEl>
                                              <p:pRg st="4" end="4"/>
                                            </p:txEl>
                                          </p:spTgt>
                                        </p:tgtEl>
                                      </p:cBhvr>
                                    </p:animEffect>
                                    <p:anim calcmode="lin" valueType="num">
                                      <p:cBhvr>
                                        <p:cTn id="30"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4">
                                            <p:txEl>
                                              <p:pRg st="5" end="5"/>
                                            </p:txEl>
                                          </p:spTgt>
                                        </p:tgtEl>
                                        <p:attrNameLst>
                                          <p:attrName>style.visibility</p:attrName>
                                        </p:attrNameLst>
                                      </p:cBhvr>
                                      <p:to>
                                        <p:strVal val="visible"/>
                                      </p:to>
                                    </p:set>
                                    <p:animEffect transition="in" filter="fade">
                                      <p:cBhvr>
                                        <p:cTn id="36" dur="1000"/>
                                        <p:tgtEl>
                                          <p:spTgt spid="4">
                                            <p:txEl>
                                              <p:pRg st="5" end="5"/>
                                            </p:txEl>
                                          </p:spTgt>
                                        </p:tgtEl>
                                      </p:cBhvr>
                                    </p:animEffect>
                                    <p:anim calcmode="lin" valueType="num">
                                      <p:cBhvr>
                                        <p:cTn id="37"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4">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4">
                                            <p:txEl>
                                              <p:pRg st="6" end="6"/>
                                            </p:txEl>
                                          </p:spTgt>
                                        </p:tgtEl>
                                        <p:attrNameLst>
                                          <p:attrName>style.visibility</p:attrName>
                                        </p:attrNameLst>
                                      </p:cBhvr>
                                      <p:to>
                                        <p:strVal val="visible"/>
                                      </p:to>
                                    </p:set>
                                    <p:animEffect transition="in" filter="fade">
                                      <p:cBhvr>
                                        <p:cTn id="41" dur="1000"/>
                                        <p:tgtEl>
                                          <p:spTgt spid="4">
                                            <p:txEl>
                                              <p:pRg st="6" end="6"/>
                                            </p:txEl>
                                          </p:spTgt>
                                        </p:tgtEl>
                                      </p:cBhvr>
                                    </p:animEffect>
                                    <p:anim calcmode="lin" valueType="num">
                                      <p:cBhvr>
                                        <p:cTn id="42"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4">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4">
                                            <p:txEl>
                                              <p:pRg st="7" end="7"/>
                                            </p:txEl>
                                          </p:spTgt>
                                        </p:tgtEl>
                                        <p:attrNameLst>
                                          <p:attrName>style.visibility</p:attrName>
                                        </p:attrNameLst>
                                      </p:cBhvr>
                                      <p:to>
                                        <p:strVal val="visible"/>
                                      </p:to>
                                    </p:set>
                                    <p:animEffect transition="in" filter="fade">
                                      <p:cBhvr>
                                        <p:cTn id="46" dur="1000"/>
                                        <p:tgtEl>
                                          <p:spTgt spid="4">
                                            <p:txEl>
                                              <p:pRg st="7" end="7"/>
                                            </p:txEl>
                                          </p:spTgt>
                                        </p:tgtEl>
                                      </p:cBhvr>
                                    </p:animEffect>
                                    <p:anim calcmode="lin" valueType="num">
                                      <p:cBhvr>
                                        <p:cTn id="47"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4">
                                            <p:txEl>
                                              <p:pRg st="7" end="7"/>
                                            </p:txEl>
                                          </p:spTgt>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4">
                                            <p:txEl>
                                              <p:pRg st="8" end="8"/>
                                            </p:txEl>
                                          </p:spTgt>
                                        </p:tgtEl>
                                        <p:attrNameLst>
                                          <p:attrName>style.visibility</p:attrName>
                                        </p:attrNameLst>
                                      </p:cBhvr>
                                      <p:to>
                                        <p:strVal val="visible"/>
                                      </p:to>
                                    </p:set>
                                    <p:animEffect transition="in" filter="fade">
                                      <p:cBhvr>
                                        <p:cTn id="51" dur="1000"/>
                                        <p:tgtEl>
                                          <p:spTgt spid="4">
                                            <p:txEl>
                                              <p:pRg st="8" end="8"/>
                                            </p:txEl>
                                          </p:spTgt>
                                        </p:tgtEl>
                                      </p:cBhvr>
                                    </p:animEffect>
                                    <p:anim calcmode="lin" valueType="num">
                                      <p:cBhvr>
                                        <p:cTn id="52"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3" dur="1000" fill="hold"/>
                                        <p:tgtEl>
                                          <p:spTgt spid="4">
                                            <p:txEl>
                                              <p:pRg st="8" end="8"/>
                                            </p:txEl>
                                          </p:spTgt>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4">
                                            <p:txEl>
                                              <p:pRg st="9" end="9"/>
                                            </p:txEl>
                                          </p:spTgt>
                                        </p:tgtEl>
                                        <p:attrNameLst>
                                          <p:attrName>style.visibility</p:attrName>
                                        </p:attrNameLst>
                                      </p:cBhvr>
                                      <p:to>
                                        <p:strVal val="visible"/>
                                      </p:to>
                                    </p:set>
                                    <p:animEffect transition="in" filter="fade">
                                      <p:cBhvr>
                                        <p:cTn id="56" dur="1000"/>
                                        <p:tgtEl>
                                          <p:spTgt spid="4">
                                            <p:txEl>
                                              <p:pRg st="9" end="9"/>
                                            </p:txEl>
                                          </p:spTgt>
                                        </p:tgtEl>
                                      </p:cBhvr>
                                    </p:animEffect>
                                    <p:anim calcmode="lin" valueType="num">
                                      <p:cBhvr>
                                        <p:cTn id="57"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9" end="9"/>
                                            </p:txEl>
                                          </p:spTgt>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4">
                                            <p:txEl>
                                              <p:pRg st="10" end="10"/>
                                            </p:txEl>
                                          </p:spTgt>
                                        </p:tgtEl>
                                        <p:attrNameLst>
                                          <p:attrName>style.visibility</p:attrName>
                                        </p:attrNameLst>
                                      </p:cBhvr>
                                      <p:to>
                                        <p:strVal val="visible"/>
                                      </p:to>
                                    </p:set>
                                    <p:animEffect transition="in" filter="fade">
                                      <p:cBhvr>
                                        <p:cTn id="61" dur="1000"/>
                                        <p:tgtEl>
                                          <p:spTgt spid="4">
                                            <p:txEl>
                                              <p:pRg st="10" end="10"/>
                                            </p:txEl>
                                          </p:spTgt>
                                        </p:tgtEl>
                                      </p:cBhvr>
                                    </p:animEffect>
                                    <p:anim calcmode="lin" valueType="num">
                                      <p:cBhvr>
                                        <p:cTn id="62"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63" dur="1000" fill="hold"/>
                                        <p:tgtEl>
                                          <p:spTgt spid="4">
                                            <p:txEl>
                                              <p:pRg st="10" end="10"/>
                                            </p:txEl>
                                          </p:spTgt>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4">
                                            <p:txEl>
                                              <p:pRg st="11" end="11"/>
                                            </p:txEl>
                                          </p:spTgt>
                                        </p:tgtEl>
                                        <p:attrNameLst>
                                          <p:attrName>style.visibility</p:attrName>
                                        </p:attrNameLst>
                                      </p:cBhvr>
                                      <p:to>
                                        <p:strVal val="visible"/>
                                      </p:to>
                                    </p:set>
                                    <p:animEffect transition="in" filter="fade">
                                      <p:cBhvr>
                                        <p:cTn id="66" dur="1000"/>
                                        <p:tgtEl>
                                          <p:spTgt spid="4">
                                            <p:txEl>
                                              <p:pRg st="11" end="11"/>
                                            </p:txEl>
                                          </p:spTgt>
                                        </p:tgtEl>
                                      </p:cBhvr>
                                    </p:animEffect>
                                    <p:anim calcmode="lin" valueType="num">
                                      <p:cBhvr>
                                        <p:cTn id="67"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68" dur="1000" fill="hold"/>
                                        <p:tgtEl>
                                          <p:spTgt spid="4">
                                            <p:txEl>
                                              <p:pRg st="11" end="11"/>
                                            </p:txEl>
                                          </p:spTgt>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4">
                                            <p:txEl>
                                              <p:pRg st="12" end="12"/>
                                            </p:txEl>
                                          </p:spTgt>
                                        </p:tgtEl>
                                        <p:attrNameLst>
                                          <p:attrName>style.visibility</p:attrName>
                                        </p:attrNameLst>
                                      </p:cBhvr>
                                      <p:to>
                                        <p:strVal val="visible"/>
                                      </p:to>
                                    </p:set>
                                    <p:animEffect transition="in" filter="fade">
                                      <p:cBhvr>
                                        <p:cTn id="71" dur="1000"/>
                                        <p:tgtEl>
                                          <p:spTgt spid="4">
                                            <p:txEl>
                                              <p:pRg st="12" end="12"/>
                                            </p:txEl>
                                          </p:spTgt>
                                        </p:tgtEl>
                                      </p:cBhvr>
                                    </p:animEffect>
                                    <p:anim calcmode="lin" valueType="num">
                                      <p:cBhvr>
                                        <p:cTn id="72"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73" dur="1000" fill="hold"/>
                                        <p:tgtEl>
                                          <p:spTgt spid="4">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AA1D2-0D32-7E44-8C33-6F6B17CB8C9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12DBEE-4ED5-4E5B-6B18-1DC124C8A08D}"/>
              </a:ext>
            </a:extLst>
          </p:cNvPr>
          <p:cNvSpPr>
            <a:spLocks noGrp="1"/>
          </p:cNvSpPr>
          <p:nvPr>
            <p:ph type="sldNum" sz="quarter" idx="12"/>
          </p:nvPr>
        </p:nvSpPr>
        <p:spPr/>
        <p:txBody>
          <a:bodyPr/>
          <a:lstStyle/>
          <a:p>
            <a:fld id="{9EA0BE3B-158A-4EDF-80DC-E394A0D1600F}" type="slidenum">
              <a:rPr lang="en-US" smtClean="0"/>
              <a:pPr/>
              <a:t>13</a:t>
            </a:fld>
            <a:endParaRPr lang="en-US"/>
          </a:p>
        </p:txBody>
      </p:sp>
      <p:sp>
        <p:nvSpPr>
          <p:cNvPr id="3" name="Title 2">
            <a:extLst>
              <a:ext uri="{FF2B5EF4-FFF2-40B4-BE49-F238E27FC236}">
                <a16:creationId xmlns:a16="http://schemas.microsoft.com/office/drawing/2014/main" id="{786EEAC9-245C-7B74-BB28-8E3042C60D3B}"/>
              </a:ext>
            </a:extLst>
          </p:cNvPr>
          <p:cNvSpPr>
            <a:spLocks noGrp="1"/>
          </p:cNvSpPr>
          <p:nvPr>
            <p:ph type="title"/>
          </p:nvPr>
        </p:nvSpPr>
        <p:spPr/>
        <p:txBody>
          <a:bodyPr/>
          <a:lstStyle/>
          <a:p>
            <a:r>
              <a:rPr lang="en-US"/>
              <a:t>Knowledge graphs</a:t>
            </a:r>
            <a:r>
              <a:rPr lang="vi-VN"/>
              <a:t> c</a:t>
            </a:r>
            <a:r>
              <a:rPr lang="en-US" err="1"/>
              <a:t>onstruction</a:t>
            </a:r>
            <a:r>
              <a:rPr lang="en-US"/>
              <a:t> pipeline </a:t>
            </a:r>
          </a:p>
        </p:txBody>
      </p:sp>
      <p:pic>
        <p:nvPicPr>
          <p:cNvPr id="6" name="Content Placeholder 5">
            <a:extLst>
              <a:ext uri="{FF2B5EF4-FFF2-40B4-BE49-F238E27FC236}">
                <a16:creationId xmlns:a16="http://schemas.microsoft.com/office/drawing/2014/main" id="{C13BE011-B09B-31C0-A2DA-FE7B4E2147E1}"/>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35076" y="5118869"/>
            <a:ext cx="8492723" cy="912952"/>
          </a:xfrm>
          <a:prstGeom prst="rect">
            <a:avLst/>
          </a:prstGeom>
        </p:spPr>
      </p:pic>
      <p:sp>
        <p:nvSpPr>
          <p:cNvPr id="7" name="TextBox 6">
            <a:extLst>
              <a:ext uri="{FF2B5EF4-FFF2-40B4-BE49-F238E27FC236}">
                <a16:creationId xmlns:a16="http://schemas.microsoft.com/office/drawing/2014/main" id="{57AFE66F-6C63-81C7-9272-FB1DF9F8F18B}"/>
              </a:ext>
            </a:extLst>
          </p:cNvPr>
          <p:cNvSpPr txBox="1"/>
          <p:nvPr/>
        </p:nvSpPr>
        <p:spPr>
          <a:xfrm>
            <a:off x="235076" y="826179"/>
            <a:ext cx="8435681" cy="4524315"/>
          </a:xfrm>
          <a:prstGeom prst="rect">
            <a:avLst/>
          </a:prstGeom>
          <a:noFill/>
        </p:spPr>
        <p:txBody>
          <a:bodyPr wrap="square" rtlCol="0">
            <a:spAutoFit/>
          </a:bodyPr>
          <a:lstStyle/>
          <a:p>
            <a:r>
              <a:rPr lang="en-US"/>
              <a:t>1. Entity Extraction</a:t>
            </a:r>
          </a:p>
          <a:p>
            <a:pPr lvl="0"/>
            <a:r>
              <a:rPr lang="en-US" err="1"/>
              <a:t>Mỗi</a:t>
            </a:r>
            <a:r>
              <a:rPr lang="en-US"/>
              <a:t> entity </a:t>
            </a:r>
            <a:r>
              <a:rPr lang="en-US" err="1"/>
              <a:t>được</a:t>
            </a:r>
            <a:r>
              <a:rPr lang="en-US"/>
              <a:t> </a:t>
            </a:r>
            <a:r>
              <a:rPr lang="en-US" err="1"/>
              <a:t>gán</a:t>
            </a:r>
            <a:r>
              <a:rPr lang="en-US"/>
              <a:t> </a:t>
            </a:r>
            <a:r>
              <a:rPr lang="en-US" err="1"/>
              <a:t>một</a:t>
            </a:r>
            <a:r>
              <a:rPr lang="en-US"/>
              <a:t> </a:t>
            </a:r>
            <a:r>
              <a:rPr lang="en-US" err="1"/>
              <a:t>loại</a:t>
            </a:r>
            <a:r>
              <a:rPr lang="en-US"/>
              <a:t> (type): Person, Location, Organization, Date, Work...</a:t>
            </a:r>
          </a:p>
          <a:p>
            <a:pPr lvl="0"/>
            <a:r>
              <a:rPr lang="en-US"/>
              <a:t>Phương </a:t>
            </a:r>
            <a:r>
              <a:rPr lang="en-US" err="1"/>
              <a:t>pháp</a:t>
            </a:r>
            <a:r>
              <a:rPr lang="en-US"/>
              <a:t>: </a:t>
            </a:r>
            <a:r>
              <a:rPr lang="en-US" err="1"/>
              <a:t>sử</a:t>
            </a:r>
            <a:r>
              <a:rPr lang="en-US"/>
              <a:t> </a:t>
            </a:r>
            <a:r>
              <a:rPr lang="en-US" err="1"/>
              <a:t>dụng</a:t>
            </a:r>
            <a:r>
              <a:rPr lang="en-US"/>
              <a:t> LLM (Gemini 3.7 Flash) </a:t>
            </a:r>
            <a:r>
              <a:rPr lang="en-US" err="1"/>
              <a:t>với</a:t>
            </a:r>
            <a:r>
              <a:rPr lang="en-US"/>
              <a:t> prompt </a:t>
            </a:r>
            <a:r>
              <a:rPr lang="en-US" err="1"/>
              <a:t>yêu</a:t>
            </a:r>
            <a:r>
              <a:rPr lang="en-US"/>
              <a:t> </a:t>
            </a:r>
            <a:r>
              <a:rPr lang="en-US" err="1"/>
              <a:t>cầu</a:t>
            </a:r>
            <a:r>
              <a:rPr lang="en-US"/>
              <a:t> output </a:t>
            </a:r>
            <a:r>
              <a:rPr lang="en-US" err="1"/>
              <a:t>dạng</a:t>
            </a:r>
            <a:r>
              <a:rPr lang="en-US"/>
              <a:t> JSON</a:t>
            </a:r>
          </a:p>
          <a:p>
            <a:r>
              <a:rPr lang="en-US"/>
              <a:t>2. Relation Extraction</a:t>
            </a:r>
          </a:p>
          <a:p>
            <a:pPr lvl="0"/>
            <a:r>
              <a:rPr lang="en-US" err="1"/>
              <a:t>Xác</a:t>
            </a:r>
            <a:r>
              <a:rPr lang="en-US"/>
              <a:t> </a:t>
            </a:r>
            <a:r>
              <a:rPr lang="en-US" err="1"/>
              <a:t>định</a:t>
            </a:r>
            <a:r>
              <a:rPr lang="en-US"/>
              <a:t> semantic relationship </a:t>
            </a:r>
            <a:r>
              <a:rPr lang="en-US" err="1"/>
              <a:t>giữa</a:t>
            </a:r>
            <a:r>
              <a:rPr lang="en-US"/>
              <a:t> </a:t>
            </a:r>
            <a:r>
              <a:rPr lang="en-US" err="1"/>
              <a:t>các</a:t>
            </a:r>
            <a:r>
              <a:rPr lang="en-US"/>
              <a:t> entity </a:t>
            </a:r>
            <a:r>
              <a:rPr lang="en-US" err="1"/>
              <a:t>đã</a:t>
            </a:r>
            <a:r>
              <a:rPr lang="en-US"/>
              <a:t> </a:t>
            </a:r>
            <a:r>
              <a:rPr lang="en-US" err="1"/>
              <a:t>trích</a:t>
            </a:r>
            <a:r>
              <a:rPr lang="en-US"/>
              <a:t> </a:t>
            </a:r>
            <a:r>
              <a:rPr lang="en-US" err="1"/>
              <a:t>xuất</a:t>
            </a:r>
            <a:endParaRPr lang="en-US"/>
          </a:p>
          <a:p>
            <a:pPr lvl="0"/>
            <a:r>
              <a:rPr lang="en-US"/>
              <a:t>Output </a:t>
            </a:r>
            <a:r>
              <a:rPr lang="en-US" err="1"/>
              <a:t>dạng</a:t>
            </a:r>
            <a:r>
              <a:rPr lang="en-US"/>
              <a:t> triple: (Subject, Predicate, Object)</a:t>
            </a:r>
          </a:p>
          <a:p>
            <a:pPr lvl="0"/>
            <a:r>
              <a:rPr lang="en-US" err="1"/>
              <a:t>Thực</a:t>
            </a:r>
            <a:r>
              <a:rPr lang="en-US"/>
              <a:t> </a:t>
            </a:r>
            <a:r>
              <a:rPr lang="en-US" err="1"/>
              <a:t>hiện</a:t>
            </a:r>
            <a:r>
              <a:rPr lang="en-US"/>
              <a:t> </a:t>
            </a:r>
            <a:r>
              <a:rPr lang="en-US" err="1"/>
              <a:t>đồng</a:t>
            </a:r>
            <a:r>
              <a:rPr lang="en-US"/>
              <a:t> </a:t>
            </a:r>
            <a:r>
              <a:rPr lang="en-US" err="1"/>
              <a:t>thời</a:t>
            </a:r>
            <a:r>
              <a:rPr lang="en-US"/>
              <a:t> </a:t>
            </a:r>
            <a:r>
              <a:rPr lang="en-US" err="1"/>
              <a:t>với</a:t>
            </a:r>
            <a:r>
              <a:rPr lang="en-US"/>
              <a:t> Entity Extraction </a:t>
            </a:r>
            <a:r>
              <a:rPr lang="en-US" err="1"/>
              <a:t>trong</a:t>
            </a:r>
            <a:r>
              <a:rPr lang="en-US"/>
              <a:t> </a:t>
            </a:r>
            <a:r>
              <a:rPr lang="en-US" err="1"/>
              <a:t>cùng</a:t>
            </a:r>
            <a:r>
              <a:rPr lang="en-US"/>
              <a:t> 1 </a:t>
            </a:r>
            <a:r>
              <a:rPr lang="en-US" err="1"/>
              <a:t>lần</a:t>
            </a:r>
            <a:r>
              <a:rPr lang="en-US"/>
              <a:t> </a:t>
            </a:r>
            <a:r>
              <a:rPr lang="en-US" err="1"/>
              <a:t>gọi</a:t>
            </a:r>
            <a:r>
              <a:rPr lang="en-US"/>
              <a:t> LLM</a:t>
            </a:r>
          </a:p>
          <a:p>
            <a:r>
              <a:rPr lang="en-US"/>
              <a:t>3. Entity Resolution</a:t>
            </a:r>
          </a:p>
          <a:p>
            <a:pPr lvl="0"/>
            <a:r>
              <a:rPr lang="en-US" err="1"/>
              <a:t>Gộp</a:t>
            </a:r>
            <a:r>
              <a:rPr lang="en-US"/>
              <a:t> </a:t>
            </a:r>
            <a:r>
              <a:rPr lang="en-US" err="1"/>
              <a:t>các</a:t>
            </a:r>
            <a:r>
              <a:rPr lang="en-US"/>
              <a:t> entity </a:t>
            </a:r>
            <a:r>
              <a:rPr lang="en-US" err="1"/>
              <a:t>trùng</a:t>
            </a:r>
            <a:r>
              <a:rPr lang="en-US"/>
              <a:t> </a:t>
            </a:r>
            <a:r>
              <a:rPr lang="en-US" err="1"/>
              <a:t>lặp</a:t>
            </a:r>
            <a:r>
              <a:rPr lang="en-US"/>
              <a:t> </a:t>
            </a:r>
            <a:r>
              <a:rPr lang="en-US" err="1"/>
              <a:t>xuất</a:t>
            </a:r>
            <a:r>
              <a:rPr lang="en-US"/>
              <a:t> </a:t>
            </a:r>
            <a:r>
              <a:rPr lang="en-US" err="1"/>
              <a:t>hiện</a:t>
            </a:r>
            <a:r>
              <a:rPr lang="en-US"/>
              <a:t> </a:t>
            </a:r>
            <a:r>
              <a:rPr lang="en-US" err="1"/>
              <a:t>dưới</a:t>
            </a:r>
            <a:r>
              <a:rPr lang="en-US"/>
              <a:t> </a:t>
            </a:r>
            <a:r>
              <a:rPr lang="en-US" err="1"/>
              <a:t>nhiều</a:t>
            </a:r>
            <a:r>
              <a:rPr lang="en-US"/>
              <a:t> </a:t>
            </a:r>
            <a:r>
              <a:rPr lang="en-US" err="1"/>
              <a:t>tên</a:t>
            </a:r>
            <a:r>
              <a:rPr lang="en-US"/>
              <a:t> </a:t>
            </a:r>
            <a:r>
              <a:rPr lang="en-US" err="1"/>
              <a:t>gọi</a:t>
            </a:r>
            <a:r>
              <a:rPr lang="en-US"/>
              <a:t> </a:t>
            </a:r>
            <a:r>
              <a:rPr lang="en-US" err="1"/>
              <a:t>khác</a:t>
            </a:r>
            <a:r>
              <a:rPr lang="en-US"/>
              <a:t> </a:t>
            </a:r>
            <a:r>
              <a:rPr lang="en-US" err="1"/>
              <a:t>nhau</a:t>
            </a:r>
            <a:r>
              <a:rPr lang="en-US"/>
              <a:t> </a:t>
            </a:r>
            <a:r>
              <a:rPr lang="en-US" err="1"/>
              <a:t>về</a:t>
            </a:r>
            <a:r>
              <a:rPr lang="en-US"/>
              <a:t> </a:t>
            </a:r>
            <a:r>
              <a:rPr lang="en-US" err="1"/>
              <a:t>cùng</a:t>
            </a:r>
            <a:r>
              <a:rPr lang="en-US"/>
              <a:t> 1 node </a:t>
            </a:r>
            <a:r>
              <a:rPr lang="en-US" err="1"/>
              <a:t>duy</a:t>
            </a:r>
            <a:r>
              <a:rPr lang="en-US"/>
              <a:t> </a:t>
            </a:r>
            <a:r>
              <a:rPr lang="en-US" err="1"/>
              <a:t>nhất</a:t>
            </a:r>
            <a:endParaRPr lang="en-US"/>
          </a:p>
          <a:p>
            <a:pPr lvl="0"/>
            <a:r>
              <a:rPr lang="en-US" err="1"/>
              <a:t>Ví</a:t>
            </a:r>
            <a:r>
              <a:rPr lang="en-US"/>
              <a:t> </a:t>
            </a:r>
            <a:r>
              <a:rPr lang="en-US" err="1"/>
              <a:t>dụ</a:t>
            </a:r>
            <a:r>
              <a:rPr lang="en-US"/>
              <a:t>: "Nguyễn Huệ", "Quang Trung", "Bắc Bình Vương" → </a:t>
            </a:r>
            <a:r>
              <a:rPr lang="en-US" err="1"/>
              <a:t>gộp</a:t>
            </a:r>
            <a:r>
              <a:rPr lang="en-US"/>
              <a:t> </a:t>
            </a:r>
            <a:r>
              <a:rPr lang="en-US" err="1"/>
              <a:t>thành</a:t>
            </a:r>
            <a:r>
              <a:rPr lang="en-US"/>
              <a:t> 1 entity</a:t>
            </a:r>
          </a:p>
          <a:p>
            <a:pPr lvl="0"/>
            <a:r>
              <a:rPr lang="en-US" err="1"/>
              <a:t>Trạng</a:t>
            </a:r>
            <a:r>
              <a:rPr lang="en-US"/>
              <a:t> </a:t>
            </a:r>
            <a:r>
              <a:rPr lang="en-US" err="1"/>
              <a:t>thái</a:t>
            </a:r>
            <a:r>
              <a:rPr lang="en-US"/>
              <a:t>: </a:t>
            </a:r>
            <a:r>
              <a:rPr lang="vi-VN"/>
              <a:t>đang triển khai</a:t>
            </a:r>
            <a:endParaRPr lang="en-US"/>
          </a:p>
          <a:p>
            <a:r>
              <a:rPr lang="en-US"/>
              <a:t>4. Graph Storage</a:t>
            </a:r>
          </a:p>
          <a:p>
            <a:pPr lvl="0"/>
            <a:r>
              <a:rPr lang="en-US"/>
              <a:t>Lưu </a:t>
            </a:r>
            <a:r>
              <a:rPr lang="en-US" err="1"/>
              <a:t>trữ</a:t>
            </a:r>
            <a:r>
              <a:rPr lang="en-US"/>
              <a:t> entity </a:t>
            </a:r>
            <a:r>
              <a:rPr lang="en-US" err="1"/>
              <a:t>và</a:t>
            </a:r>
            <a:r>
              <a:rPr lang="en-US"/>
              <a:t> relation </a:t>
            </a:r>
            <a:r>
              <a:rPr lang="en-US" err="1"/>
              <a:t>vào</a:t>
            </a:r>
            <a:r>
              <a:rPr lang="en-US"/>
              <a:t> graph database</a:t>
            </a:r>
          </a:p>
          <a:p>
            <a:pPr lvl="0"/>
            <a:r>
              <a:rPr lang="en-US"/>
              <a:t>Công </a:t>
            </a:r>
            <a:r>
              <a:rPr lang="en-US" err="1"/>
              <a:t>cụ</a:t>
            </a:r>
            <a:r>
              <a:rPr lang="en-US"/>
              <a:t>: </a:t>
            </a:r>
            <a:r>
              <a:rPr lang="en-US" err="1"/>
              <a:t>Neo4j</a:t>
            </a:r>
            <a:r>
              <a:rPr lang="en-US"/>
              <a:t> </a:t>
            </a:r>
          </a:p>
          <a:p>
            <a:pPr lvl="0"/>
            <a:r>
              <a:rPr lang="en-US" err="1"/>
              <a:t>Cấu</a:t>
            </a:r>
            <a:r>
              <a:rPr lang="en-US"/>
              <a:t> </a:t>
            </a:r>
            <a:r>
              <a:rPr lang="en-US" err="1"/>
              <a:t>trúc</a:t>
            </a:r>
            <a:r>
              <a:rPr lang="en-US"/>
              <a:t> </a:t>
            </a:r>
            <a:r>
              <a:rPr lang="en-US" err="1"/>
              <a:t>lưu</a:t>
            </a:r>
            <a:r>
              <a:rPr lang="en-US"/>
              <a:t>: (Entity)-[Relation]-&gt;(Entity)</a:t>
            </a:r>
          </a:p>
          <a:p>
            <a:endParaRPr lang="en-US"/>
          </a:p>
        </p:txBody>
      </p:sp>
    </p:spTree>
    <p:extLst>
      <p:ext uri="{BB962C8B-B14F-4D97-AF65-F5344CB8AC3E}">
        <p14:creationId xmlns:p14="http://schemas.microsoft.com/office/powerpoint/2010/main" val="4256125873"/>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F7DF6-818F-6C3C-9757-E7FE3D56707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85A6E2-9DF5-825D-1B9B-2D2C20126D9E}"/>
              </a:ext>
            </a:extLst>
          </p:cNvPr>
          <p:cNvSpPr>
            <a:spLocks noGrp="1"/>
          </p:cNvSpPr>
          <p:nvPr>
            <p:ph type="sldNum" sz="quarter" idx="12"/>
          </p:nvPr>
        </p:nvSpPr>
        <p:spPr/>
        <p:txBody>
          <a:bodyPr/>
          <a:lstStyle/>
          <a:p>
            <a:fld id="{9EA0BE3B-158A-4EDF-80DC-E394A0D1600F}" type="slidenum">
              <a:rPr lang="en-US" smtClean="0"/>
              <a:pPr/>
              <a:t>14</a:t>
            </a:fld>
            <a:endParaRPr lang="en-US"/>
          </a:p>
        </p:txBody>
      </p:sp>
      <p:sp>
        <p:nvSpPr>
          <p:cNvPr id="3" name="Title 2">
            <a:extLst>
              <a:ext uri="{FF2B5EF4-FFF2-40B4-BE49-F238E27FC236}">
                <a16:creationId xmlns:a16="http://schemas.microsoft.com/office/drawing/2014/main" id="{9C83153D-C6C1-3D8E-108F-DF6FBA2B4BB9}"/>
              </a:ext>
            </a:extLst>
          </p:cNvPr>
          <p:cNvSpPr>
            <a:spLocks noGrp="1"/>
          </p:cNvSpPr>
          <p:nvPr>
            <p:ph type="title"/>
          </p:nvPr>
        </p:nvSpPr>
        <p:spPr/>
        <p:txBody>
          <a:bodyPr/>
          <a:lstStyle/>
          <a:p>
            <a:r>
              <a:rPr lang="vi-VN"/>
              <a:t>RESULT</a:t>
            </a:r>
            <a:endParaRPr lang="en-US"/>
          </a:p>
        </p:txBody>
      </p:sp>
      <p:pic>
        <p:nvPicPr>
          <p:cNvPr id="7" name="Content Placeholder 6">
            <a:extLst>
              <a:ext uri="{FF2B5EF4-FFF2-40B4-BE49-F238E27FC236}">
                <a16:creationId xmlns:a16="http://schemas.microsoft.com/office/drawing/2014/main" id="{FA74BB64-A0ED-7962-669D-42545B3F422C}"/>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324505" y="2541586"/>
            <a:ext cx="9412357" cy="4565694"/>
          </a:xfrm>
          <a:prstGeom prst="rect">
            <a:avLst/>
          </a:prstGeom>
        </p:spPr>
      </p:pic>
      <p:sp>
        <p:nvSpPr>
          <p:cNvPr id="5" name="TextBox 4">
            <a:extLst>
              <a:ext uri="{FF2B5EF4-FFF2-40B4-BE49-F238E27FC236}">
                <a16:creationId xmlns:a16="http://schemas.microsoft.com/office/drawing/2014/main" id="{7E6A987B-6AD5-F94A-5683-2F39877969DB}"/>
              </a:ext>
            </a:extLst>
          </p:cNvPr>
          <p:cNvSpPr txBox="1"/>
          <p:nvPr/>
        </p:nvSpPr>
        <p:spPr>
          <a:xfrm>
            <a:off x="550986" y="907575"/>
            <a:ext cx="8357937" cy="1754326"/>
          </a:xfrm>
          <a:prstGeom prst="rect">
            <a:avLst/>
          </a:prstGeom>
          <a:noFill/>
        </p:spPr>
        <p:txBody>
          <a:bodyPr wrap="square" rtlCol="0">
            <a:spAutoFit/>
          </a:bodyPr>
          <a:lstStyle/>
          <a:p>
            <a:r>
              <a:rPr lang="en-US" err="1"/>
              <a:t>Kết</a:t>
            </a:r>
            <a:r>
              <a:rPr lang="en-US"/>
              <a:t> </a:t>
            </a:r>
            <a:r>
              <a:rPr lang="en-US" err="1"/>
              <a:t>quả</a:t>
            </a:r>
            <a:r>
              <a:rPr lang="en-US"/>
              <a:t> demo ban </a:t>
            </a:r>
            <a:r>
              <a:rPr lang="vi-VN"/>
              <a:t>đầu:</a:t>
            </a:r>
            <a:endParaRPr lang="en-US"/>
          </a:p>
          <a:p>
            <a:pPr marL="285750" lvl="0" indent="-285750">
              <a:buFontTx/>
              <a:buChar char="-"/>
            </a:pPr>
            <a:r>
              <a:rPr lang="en-US" err="1"/>
              <a:t>Đã</a:t>
            </a:r>
            <a:r>
              <a:rPr lang="en-US"/>
              <a:t> </a:t>
            </a:r>
            <a:r>
              <a:rPr lang="en-US" err="1"/>
              <a:t>xây</a:t>
            </a:r>
            <a:r>
              <a:rPr lang="en-US"/>
              <a:t> </a:t>
            </a:r>
            <a:r>
              <a:rPr lang="en-US" err="1"/>
              <a:t>dựng</a:t>
            </a:r>
            <a:r>
              <a:rPr lang="en-US"/>
              <a:t> </a:t>
            </a:r>
            <a:r>
              <a:rPr lang="en-US" err="1"/>
              <a:t>thành</a:t>
            </a:r>
            <a:r>
              <a:rPr lang="en-US"/>
              <a:t> </a:t>
            </a:r>
            <a:r>
              <a:rPr lang="en-US" err="1"/>
              <a:t>công</a:t>
            </a:r>
            <a:r>
              <a:rPr lang="en-US"/>
              <a:t> pipeline end-to-end: </a:t>
            </a:r>
            <a:r>
              <a:rPr lang="en-US" err="1"/>
              <a:t>từ</a:t>
            </a:r>
            <a:r>
              <a:rPr lang="en-US"/>
              <a:t> </a:t>
            </a:r>
            <a:r>
              <a:rPr lang="en-US" err="1"/>
              <a:t>văn</a:t>
            </a:r>
            <a:r>
              <a:rPr lang="en-US"/>
              <a:t> </a:t>
            </a:r>
            <a:r>
              <a:rPr lang="en-US" err="1"/>
              <a:t>bản</a:t>
            </a:r>
            <a:r>
              <a:rPr lang="en-US"/>
              <a:t> </a:t>
            </a:r>
            <a:r>
              <a:rPr lang="en-US" err="1"/>
              <a:t>thô</a:t>
            </a:r>
            <a:r>
              <a:rPr lang="en-US"/>
              <a:t> </a:t>
            </a:r>
            <a:r>
              <a:rPr lang="vi-VN"/>
              <a:t>-&gt;</a:t>
            </a:r>
            <a:r>
              <a:rPr lang="en-US"/>
              <a:t> entity/relation JSON  </a:t>
            </a:r>
            <a:r>
              <a:rPr lang="vi-VN"/>
              <a:t>-&gt;</a:t>
            </a:r>
            <a:r>
              <a:rPr lang="en-US"/>
              <a:t>insert </a:t>
            </a:r>
            <a:r>
              <a:rPr lang="en-US" err="1"/>
              <a:t>vào</a:t>
            </a:r>
            <a:r>
              <a:rPr lang="en-US"/>
              <a:t> </a:t>
            </a:r>
            <a:r>
              <a:rPr lang="en-US" err="1"/>
              <a:t>Neo4j</a:t>
            </a:r>
            <a:endParaRPr lang="en-US"/>
          </a:p>
          <a:p>
            <a:pPr marL="285750" lvl="0" indent="-285750">
              <a:buFontTx/>
              <a:buChar char="-"/>
            </a:pPr>
            <a:r>
              <a:rPr lang="en-US"/>
              <a:t>Test </a:t>
            </a:r>
            <a:r>
              <a:rPr lang="en-US" err="1"/>
              <a:t>với</a:t>
            </a:r>
            <a:r>
              <a:rPr lang="en-US"/>
              <a:t> </a:t>
            </a:r>
            <a:r>
              <a:rPr lang="en-US" err="1"/>
              <a:t>văn</a:t>
            </a:r>
            <a:r>
              <a:rPr lang="en-US"/>
              <a:t> </a:t>
            </a:r>
            <a:r>
              <a:rPr lang="en-US" err="1"/>
              <a:t>bản</a:t>
            </a:r>
            <a:r>
              <a:rPr lang="en-US"/>
              <a:t> </a:t>
            </a:r>
            <a:r>
              <a:rPr lang="en-US" err="1"/>
              <a:t>mẫu</a:t>
            </a:r>
            <a:r>
              <a:rPr lang="en-US"/>
              <a:t>: </a:t>
            </a:r>
            <a:r>
              <a:rPr lang="en-US" err="1"/>
              <a:t>trích</a:t>
            </a:r>
            <a:r>
              <a:rPr lang="en-US"/>
              <a:t> </a:t>
            </a:r>
            <a:r>
              <a:rPr lang="en-US" err="1"/>
              <a:t>xuất</a:t>
            </a:r>
            <a:r>
              <a:rPr lang="en-US"/>
              <a:t> </a:t>
            </a:r>
            <a:r>
              <a:rPr lang="en-US" err="1"/>
              <a:t>được</a:t>
            </a:r>
            <a:r>
              <a:rPr lang="en-US"/>
              <a:t> </a:t>
            </a:r>
            <a:r>
              <a:rPr lang="vi-VN"/>
              <a:t>21</a:t>
            </a:r>
            <a:r>
              <a:rPr lang="en-US"/>
              <a:t> entities </a:t>
            </a:r>
            <a:r>
              <a:rPr lang="en-US" err="1"/>
              <a:t>và</a:t>
            </a:r>
            <a:r>
              <a:rPr lang="en-US"/>
              <a:t> </a:t>
            </a:r>
            <a:r>
              <a:rPr lang="vi-VN"/>
              <a:t>14</a:t>
            </a:r>
            <a:r>
              <a:rPr lang="en-US"/>
              <a:t> relations</a:t>
            </a:r>
          </a:p>
          <a:p>
            <a:pPr marL="285750" lvl="0" indent="-285750">
              <a:buFontTx/>
              <a:buChar char="-"/>
            </a:pPr>
            <a:r>
              <a:rPr lang="en-US" err="1"/>
              <a:t>Trực</a:t>
            </a:r>
            <a:r>
              <a:rPr lang="en-US"/>
              <a:t> </a:t>
            </a:r>
            <a:r>
              <a:rPr lang="en-US" err="1"/>
              <a:t>quan</a:t>
            </a:r>
            <a:r>
              <a:rPr lang="en-US"/>
              <a:t> </a:t>
            </a:r>
            <a:r>
              <a:rPr lang="en-US" err="1"/>
              <a:t>hóa</a:t>
            </a:r>
            <a:r>
              <a:rPr lang="en-US"/>
              <a:t> </a:t>
            </a:r>
            <a:r>
              <a:rPr lang="en-US" err="1"/>
              <a:t>kết</a:t>
            </a:r>
            <a:r>
              <a:rPr lang="en-US"/>
              <a:t> </a:t>
            </a:r>
            <a:r>
              <a:rPr lang="en-US" err="1"/>
              <a:t>quả</a:t>
            </a:r>
            <a:r>
              <a:rPr lang="en-US"/>
              <a:t> qua </a:t>
            </a:r>
            <a:r>
              <a:rPr lang="en-US" err="1"/>
              <a:t>Neo4j</a:t>
            </a:r>
            <a:r>
              <a:rPr lang="en-US"/>
              <a:t> Browser (Cypher query: MATCH (n)-[r]-&gt;(m) RETURN n, r, m)</a:t>
            </a:r>
          </a:p>
        </p:txBody>
      </p:sp>
    </p:spTree>
    <p:extLst>
      <p:ext uri="{BB962C8B-B14F-4D97-AF65-F5344CB8AC3E}">
        <p14:creationId xmlns:p14="http://schemas.microsoft.com/office/powerpoint/2010/main" val="3736486857"/>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33C94-A561-15CA-2AF1-47482D7261B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D25DD9-B588-6660-00A6-A0019FBF08B9}"/>
              </a:ext>
            </a:extLst>
          </p:cNvPr>
          <p:cNvSpPr>
            <a:spLocks noGrp="1"/>
          </p:cNvSpPr>
          <p:nvPr>
            <p:ph type="sldNum" sz="quarter" idx="12"/>
          </p:nvPr>
        </p:nvSpPr>
        <p:spPr/>
        <p:txBody>
          <a:bodyPr/>
          <a:lstStyle/>
          <a:p>
            <a:fld id="{9EA0BE3B-158A-4EDF-80DC-E394A0D1600F}" type="slidenum">
              <a:rPr lang="en-US" smtClean="0"/>
              <a:pPr/>
              <a:t>15</a:t>
            </a:fld>
            <a:endParaRPr lang="en-US"/>
          </a:p>
        </p:txBody>
      </p:sp>
      <p:sp>
        <p:nvSpPr>
          <p:cNvPr id="3" name="Title 2">
            <a:extLst>
              <a:ext uri="{FF2B5EF4-FFF2-40B4-BE49-F238E27FC236}">
                <a16:creationId xmlns:a16="http://schemas.microsoft.com/office/drawing/2014/main" id="{2D178EDE-5531-E284-5E75-B76D92B14594}"/>
              </a:ext>
            </a:extLst>
          </p:cNvPr>
          <p:cNvSpPr>
            <a:spLocks noGrp="1"/>
          </p:cNvSpPr>
          <p:nvPr>
            <p:ph type="title"/>
          </p:nvPr>
        </p:nvSpPr>
        <p:spPr/>
        <p:txBody>
          <a:bodyPr/>
          <a:lstStyle/>
          <a:p>
            <a:r>
              <a:rPr lang="en-US"/>
              <a:t>Retrieval-Augmented Generation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8FB731D-5B39-98E3-BF62-1CAE28BA1B0F}"/>
                  </a:ext>
                </a:extLst>
              </p:cNvPr>
              <p:cNvSpPr txBox="1"/>
              <p:nvPr/>
            </p:nvSpPr>
            <p:spPr>
              <a:xfrm>
                <a:off x="0" y="802322"/>
                <a:ext cx="3986463" cy="6463308"/>
              </a:xfrm>
              <a:prstGeom prst="rect">
                <a:avLst/>
              </a:prstGeom>
              <a:noFill/>
            </p:spPr>
            <p:txBody>
              <a:bodyPr wrap="square" rtlCol="0">
                <a:spAutoFit/>
              </a:bodyPr>
              <a:lstStyle/>
              <a:p>
                <a:pPr marL="285750" indent="-285750">
                  <a:buFontTx/>
                  <a:buChar char="-"/>
                </a:pPr>
                <a:r>
                  <a:rPr lang="en-US"/>
                  <a:t>Quy </a:t>
                </a:r>
                <a:r>
                  <a:rPr lang="en-US" err="1"/>
                  <a:t>trình</a:t>
                </a:r>
                <a:r>
                  <a:rPr lang="en-US"/>
                  <a:t> </a:t>
                </a:r>
                <a:r>
                  <a:rPr lang="en-US" err="1"/>
                  <a:t>hoạt</a:t>
                </a:r>
                <a:r>
                  <a:rPr lang="en-US"/>
                  <a:t> </a:t>
                </a:r>
                <a:r>
                  <a:rPr lang="vi-VN"/>
                  <a:t>động:</a:t>
                </a:r>
              </a:p>
              <a:p>
                <a:pPr marL="742950" lvl="1" indent="-285750">
                  <a:buFontTx/>
                  <a:buChar char="-"/>
                </a:pPr>
                <a:r>
                  <a:rPr lang="en-US"/>
                  <a:t>Retrieval :</a:t>
                </a:r>
                <a:endParaRPr lang="vi-VN"/>
              </a:p>
              <a:p>
                <a:pPr marL="1200150" lvl="2" indent="-285750">
                  <a:buFontTx/>
                  <a:buChar char="-"/>
                </a:pPr>
                <a:r>
                  <a:rPr lang="en-US"/>
                  <a:t>Văn </a:t>
                </a:r>
                <a:r>
                  <a:rPr lang="en-US" err="1"/>
                  <a:t>bản</a:t>
                </a:r>
                <a:r>
                  <a:rPr lang="en-US"/>
                  <a:t> </a:t>
                </a:r>
                <a:r>
                  <a:rPr lang="en-US" err="1"/>
                  <a:t>nội</a:t>
                </a:r>
                <a:r>
                  <a:rPr lang="en-US"/>
                  <a:t> </a:t>
                </a:r>
                <a:r>
                  <a:rPr lang="en-US" err="1"/>
                  <a:t>bộ</a:t>
                </a:r>
                <a:r>
                  <a:rPr lang="en-US"/>
                  <a:t> </a:t>
                </a:r>
                <a:r>
                  <a:rPr lang="en-US" err="1"/>
                  <a:t>được</a:t>
                </a:r>
                <a:r>
                  <a:rPr lang="en-US"/>
                  <a:t> chia </a:t>
                </a:r>
                <a:r>
                  <a:rPr lang="en-US" err="1"/>
                  <a:t>nhỏ</a:t>
                </a:r>
                <a:r>
                  <a:rPr lang="en-US"/>
                  <a:t> </a:t>
                </a:r>
                <a:r>
                  <a:rPr lang="en-US" err="1"/>
                  <a:t>thành</a:t>
                </a:r>
                <a:r>
                  <a:rPr lang="en-US"/>
                  <a:t> </a:t>
                </a:r>
                <a:r>
                  <a:rPr lang="en-US" err="1"/>
                  <a:t>các</a:t>
                </a:r>
                <a:r>
                  <a:rPr lang="vi-VN"/>
                  <a:t> </a:t>
                </a:r>
                <a:r>
                  <a:rPr lang="en-US"/>
                  <a:t>Chunks </a:t>
                </a:r>
                <a:r>
                  <a:rPr lang="en-US" err="1"/>
                  <a:t>và</a:t>
                </a:r>
                <a:r>
                  <a:rPr lang="en-US"/>
                  <a:t> </a:t>
                </a:r>
                <a:r>
                  <a:rPr lang="en-US" err="1"/>
                  <a:t>chuyển</a:t>
                </a:r>
                <a:r>
                  <a:rPr lang="en-US"/>
                  <a:t> </a:t>
                </a:r>
                <a:r>
                  <a:rPr lang="en-US" err="1"/>
                  <a:t>thành</a:t>
                </a:r>
                <a:r>
                  <a:rPr lang="en-US"/>
                  <a:t> Vector Embeddings.</a:t>
                </a:r>
                <a:endParaRPr lang="vi-VN"/>
              </a:p>
              <a:p>
                <a:pPr marL="1200150" lvl="2" indent="-285750">
                  <a:buFontTx/>
                  <a:buChar char="-"/>
                </a:pPr>
                <a:r>
                  <a:rPr lang="en-US"/>
                  <a:t>Khi </a:t>
                </a:r>
                <a:r>
                  <a:rPr lang="en-US" err="1"/>
                  <a:t>người</a:t>
                </a:r>
                <a:r>
                  <a:rPr lang="en-US"/>
                  <a:t> </a:t>
                </a:r>
                <a:r>
                  <a:rPr lang="en-US" err="1"/>
                  <a:t>dùng</a:t>
                </a:r>
                <a:r>
                  <a:rPr lang="en-US"/>
                  <a:t> </a:t>
                </a:r>
                <a:r>
                  <a:rPr lang="en-US" err="1"/>
                  <a:t>đặt</a:t>
                </a:r>
                <a:r>
                  <a:rPr lang="en-US"/>
                  <a:t> </a:t>
                </a:r>
                <a:r>
                  <a:rPr lang="en-US" err="1"/>
                  <a:t>câu</a:t>
                </a:r>
                <a:r>
                  <a:rPr lang="en-US"/>
                  <a:t> </a:t>
                </a:r>
                <a:r>
                  <a:rPr lang="en-US" err="1"/>
                  <a:t>hỏi</a:t>
                </a:r>
                <a:r>
                  <a:rPr lang="en-US"/>
                  <a:t> </a:t>
                </a:r>
                <a14:m>
                  <m:oMath xmlns:m="http://schemas.openxmlformats.org/officeDocument/2006/math">
                    <m:r>
                      <a:rPr lang="en-US" b="0" smtClean="0">
                        <a:latin typeface="Cambria Math" panose="02040503050406030204" pitchFamily="18" charset="0"/>
                      </a:rPr>
                      <m:t>→</m:t>
                    </m:r>
                  </m:oMath>
                </a14:m>
                <a:r>
                  <a:rPr lang="en-US" err="1"/>
                  <a:t>Chuyển</a:t>
                </a:r>
                <a:r>
                  <a:rPr lang="en-US"/>
                  <a:t> </a:t>
                </a:r>
                <a:r>
                  <a:rPr lang="en-US" err="1"/>
                  <a:t>câu</a:t>
                </a:r>
                <a:r>
                  <a:rPr lang="en-US"/>
                  <a:t> </a:t>
                </a:r>
                <a:r>
                  <a:rPr lang="en-US" err="1"/>
                  <a:t>hỏi</a:t>
                </a:r>
                <a:r>
                  <a:rPr lang="en-US"/>
                  <a:t> </a:t>
                </a:r>
                <a:r>
                  <a:rPr lang="en-US" err="1"/>
                  <a:t>thành</a:t>
                </a:r>
                <a:r>
                  <a:rPr lang="en-US"/>
                  <a:t> Vector </a:t>
                </a:r>
                <a14:m>
                  <m:oMath xmlns:m="http://schemas.openxmlformats.org/officeDocument/2006/math">
                    <m:r>
                      <a:rPr lang="en-US" b="0" smtClean="0">
                        <a:latin typeface="Cambria Math" panose="02040503050406030204" pitchFamily="18" charset="0"/>
                      </a:rPr>
                      <m:t>→</m:t>
                    </m:r>
                  </m:oMath>
                </a14:m>
                <a:r>
                  <a:rPr lang="en-US" err="1"/>
                  <a:t>Tìm</a:t>
                </a:r>
                <a:r>
                  <a:rPr lang="en-US"/>
                  <a:t> </a:t>
                </a:r>
                <a:r>
                  <a:rPr lang="en-US" err="1"/>
                  <a:t>kiếm</a:t>
                </a:r>
                <a:r>
                  <a:rPr lang="en-US"/>
                  <a:t> </a:t>
                </a:r>
                <a:r>
                  <a:rPr lang="en-US" err="1"/>
                  <a:t>các</a:t>
                </a:r>
                <a:r>
                  <a:rPr lang="en-US"/>
                  <a:t> Chunks </a:t>
                </a:r>
                <a:r>
                  <a:rPr lang="en-US" err="1"/>
                  <a:t>có</a:t>
                </a:r>
                <a:r>
                  <a:rPr lang="en-US"/>
                  <a:t> </a:t>
                </a:r>
                <a:r>
                  <a:rPr lang="en-US" err="1"/>
                  <a:t>độ</a:t>
                </a:r>
                <a:r>
                  <a:rPr lang="en-US"/>
                  <a:t> </a:t>
                </a:r>
                <a:r>
                  <a:rPr lang="en-US" err="1"/>
                  <a:t>tương</a:t>
                </a:r>
                <a:r>
                  <a:rPr lang="en-US"/>
                  <a:t> </a:t>
                </a:r>
                <a:r>
                  <a:rPr lang="en-US" err="1"/>
                  <a:t>đồng</a:t>
                </a:r>
                <a:r>
                  <a:rPr lang="en-US"/>
                  <a:t> </a:t>
                </a:r>
                <a:r>
                  <a:rPr lang="en-US" err="1"/>
                  <a:t>cao</a:t>
                </a:r>
                <a:r>
                  <a:rPr lang="en-US"/>
                  <a:t> </a:t>
                </a:r>
                <a:r>
                  <a:rPr lang="en-US" err="1"/>
                  <a:t>nhất</a:t>
                </a:r>
                <a:r>
                  <a:rPr lang="en-US"/>
                  <a:t> .</a:t>
                </a:r>
              </a:p>
              <a:p>
                <a:pPr marL="742950" lvl="1" indent="-285750">
                  <a:buFontTx/>
                  <a:buChar char="-"/>
                </a:pPr>
                <a:r>
                  <a:rPr lang="en-US"/>
                  <a:t>Augmentation </a:t>
                </a:r>
                <a:endParaRPr lang="vi-VN"/>
              </a:p>
              <a:p>
                <a:pPr marL="1200150" lvl="2" indent="-285750">
                  <a:buFontTx/>
                  <a:buChar char="-"/>
                </a:pPr>
                <a:r>
                  <a:rPr lang="en-US" err="1"/>
                  <a:t>Ghép</a:t>
                </a:r>
                <a:r>
                  <a:rPr lang="en-US"/>
                  <a:t> </a:t>
                </a:r>
                <a:r>
                  <a:rPr lang="en-US" err="1"/>
                  <a:t>các</a:t>
                </a:r>
                <a:r>
                  <a:rPr lang="en-US"/>
                  <a:t> Chunks </a:t>
                </a:r>
                <a:r>
                  <a:rPr lang="en-US" err="1"/>
                  <a:t>tìm</a:t>
                </a:r>
                <a:r>
                  <a:rPr lang="en-US"/>
                  <a:t> </a:t>
                </a:r>
                <a:r>
                  <a:rPr lang="en-US" err="1"/>
                  <a:t>được</a:t>
                </a:r>
                <a:r>
                  <a:rPr lang="en-US"/>
                  <a:t> </a:t>
                </a:r>
                <a:r>
                  <a:rPr lang="en-US" err="1"/>
                  <a:t>vào</a:t>
                </a:r>
                <a:r>
                  <a:rPr lang="en-US"/>
                  <a:t> Prompt Context </a:t>
                </a:r>
                <a:r>
                  <a:rPr lang="en-US" err="1"/>
                  <a:t>cùng</a:t>
                </a:r>
                <a:r>
                  <a:rPr lang="en-US"/>
                  <a:t> </a:t>
                </a:r>
                <a:r>
                  <a:rPr lang="en-US" err="1"/>
                  <a:t>với</a:t>
                </a:r>
                <a:r>
                  <a:rPr lang="en-US"/>
                  <a:t> </a:t>
                </a:r>
                <a:r>
                  <a:rPr lang="en-US" err="1"/>
                  <a:t>câu</a:t>
                </a:r>
                <a:r>
                  <a:rPr lang="en-US"/>
                  <a:t> </a:t>
                </a:r>
                <a:r>
                  <a:rPr lang="en-US" err="1"/>
                  <a:t>hỏi</a:t>
                </a:r>
                <a:r>
                  <a:rPr lang="en-US"/>
                  <a:t> ban </a:t>
                </a:r>
                <a:r>
                  <a:rPr lang="en-US" err="1"/>
                  <a:t>đầu</a:t>
                </a:r>
                <a:r>
                  <a:rPr lang="en-US"/>
                  <a:t>.</a:t>
                </a:r>
                <a:endParaRPr lang="vi-VN"/>
              </a:p>
              <a:p>
                <a:pPr marL="742950" lvl="1" indent="-285750">
                  <a:buFontTx/>
                  <a:buChar char="-"/>
                </a:pPr>
                <a:r>
                  <a:rPr lang="en-US"/>
                  <a:t>Generation </a:t>
                </a:r>
                <a:endParaRPr lang="vi-VN"/>
              </a:p>
              <a:p>
                <a:pPr marL="1200150" lvl="2" indent="-285750">
                  <a:buFontTx/>
                  <a:buChar char="-"/>
                </a:pPr>
                <a:r>
                  <a:rPr lang="en-US" err="1"/>
                  <a:t>Đưa</a:t>
                </a:r>
                <a:r>
                  <a:rPr lang="en-US"/>
                  <a:t> Prompt </a:t>
                </a:r>
                <a:r>
                  <a:rPr lang="en-US" err="1"/>
                  <a:t>hoàn</a:t>
                </a:r>
                <a:r>
                  <a:rPr lang="en-US"/>
                  <a:t> </a:t>
                </a:r>
                <a:r>
                  <a:rPr lang="en-US" err="1"/>
                  <a:t>chỉnh</a:t>
                </a:r>
                <a:r>
                  <a:rPr lang="en-US"/>
                  <a:t> </a:t>
                </a:r>
                <a:r>
                  <a:rPr lang="en-US" err="1"/>
                  <a:t>vào</a:t>
                </a:r>
                <a:r>
                  <a:rPr lang="en-US"/>
                  <a:t> LLM </a:t>
                </a:r>
                <a:r>
                  <a:rPr lang="en-US" err="1"/>
                  <a:t>để</a:t>
                </a:r>
                <a:r>
                  <a:rPr lang="en-US"/>
                  <a:t> </a:t>
                </a:r>
                <a:r>
                  <a:rPr lang="en-US" err="1"/>
                  <a:t>tổng</a:t>
                </a:r>
                <a:r>
                  <a:rPr lang="en-US"/>
                  <a:t> </a:t>
                </a:r>
                <a:r>
                  <a:rPr lang="en-US" err="1"/>
                  <a:t>hợp</a:t>
                </a:r>
                <a:r>
                  <a:rPr lang="en-US"/>
                  <a:t> </a:t>
                </a:r>
                <a:r>
                  <a:rPr lang="en-US" err="1"/>
                  <a:t>và</a:t>
                </a:r>
                <a:r>
                  <a:rPr lang="en-US"/>
                  <a:t> </a:t>
                </a:r>
                <a:r>
                  <a:rPr lang="en-US" err="1"/>
                  <a:t>sinh</a:t>
                </a:r>
                <a:r>
                  <a:rPr lang="en-US"/>
                  <a:t> </a:t>
                </a:r>
                <a:r>
                  <a:rPr lang="en-US" err="1"/>
                  <a:t>ra</a:t>
                </a:r>
                <a:r>
                  <a:rPr lang="en-US"/>
                  <a:t> </a:t>
                </a:r>
                <a:r>
                  <a:rPr lang="en-US" err="1"/>
                  <a:t>câu</a:t>
                </a:r>
                <a:r>
                  <a:rPr lang="en-US"/>
                  <a:t> </a:t>
                </a:r>
                <a:r>
                  <a:rPr lang="en-US" err="1"/>
                  <a:t>trả</a:t>
                </a:r>
                <a:r>
                  <a:rPr lang="en-US"/>
                  <a:t> </a:t>
                </a:r>
                <a:r>
                  <a:rPr lang="en-US" err="1"/>
                  <a:t>lời</a:t>
                </a:r>
                <a:r>
                  <a:rPr lang="en-US"/>
                  <a:t> </a:t>
                </a:r>
                <a:r>
                  <a:rPr lang="en-US" err="1"/>
                  <a:t>dựa</a:t>
                </a:r>
                <a:r>
                  <a:rPr lang="en-US"/>
                  <a:t> </a:t>
                </a:r>
                <a:r>
                  <a:rPr lang="en-US" err="1"/>
                  <a:t>trên</a:t>
                </a:r>
                <a:r>
                  <a:rPr lang="en-US"/>
                  <a:t> </a:t>
                </a:r>
                <a:r>
                  <a:rPr lang="en-US" err="1"/>
                  <a:t>dữ</a:t>
                </a:r>
                <a:r>
                  <a:rPr lang="en-US"/>
                  <a:t> </a:t>
                </a:r>
                <a:r>
                  <a:rPr lang="en-US" err="1"/>
                  <a:t>liệu</a:t>
                </a:r>
                <a:r>
                  <a:rPr lang="en-US"/>
                  <a:t> </a:t>
                </a:r>
                <a:r>
                  <a:rPr lang="en-US" err="1"/>
                  <a:t>vừa</a:t>
                </a:r>
                <a:r>
                  <a:rPr lang="en-US"/>
                  <a:t> </a:t>
                </a:r>
                <a:r>
                  <a:rPr lang="en-US" err="1"/>
                  <a:t>tìm</a:t>
                </a:r>
                <a:r>
                  <a:rPr lang="en-US"/>
                  <a:t> </a:t>
                </a:r>
                <a:r>
                  <a:rPr lang="en-US" err="1"/>
                  <a:t>được</a:t>
                </a:r>
                <a:r>
                  <a:rPr lang="en-US"/>
                  <a:t>.</a:t>
                </a:r>
              </a:p>
              <a:p>
                <a:pPr lvl="2"/>
                <a:endParaRPr lang="vi-VN"/>
              </a:p>
              <a:p>
                <a:endParaRPr lang="en-US"/>
              </a:p>
              <a:p>
                <a:endParaRPr lang="en-US"/>
              </a:p>
            </p:txBody>
          </p:sp>
        </mc:Choice>
        <mc:Fallback xmlns="">
          <p:sp>
            <p:nvSpPr>
              <p:cNvPr id="5" name="TextBox 4">
                <a:extLst>
                  <a:ext uri="{FF2B5EF4-FFF2-40B4-BE49-F238E27FC236}">
                    <a16:creationId xmlns:a16="http://schemas.microsoft.com/office/drawing/2014/main" id="{38FB731D-5B39-98E3-BF62-1CAE28BA1B0F}"/>
                  </a:ext>
                </a:extLst>
              </p:cNvPr>
              <p:cNvSpPr txBox="1">
                <a:spLocks noRot="1" noChangeAspect="1" noMove="1" noResize="1" noEditPoints="1" noAdjustHandles="1" noChangeArrowheads="1" noChangeShapeType="1" noTextEdit="1"/>
              </p:cNvSpPr>
              <p:nvPr/>
            </p:nvSpPr>
            <p:spPr>
              <a:xfrm>
                <a:off x="0" y="802322"/>
                <a:ext cx="3986463" cy="6463308"/>
              </a:xfrm>
              <a:prstGeom prst="rect">
                <a:avLst/>
              </a:prstGeom>
              <a:blipFill>
                <a:blip r:embed="rId2"/>
                <a:stretch>
                  <a:fillRect l="-1223" t="-660"/>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AD1CFE22-10B9-89FC-0D29-6FC71F9A0C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1524" y="1996741"/>
            <a:ext cx="5092476" cy="2864518"/>
          </a:xfrm>
          <a:prstGeom prst="rect">
            <a:avLst/>
          </a:prstGeom>
        </p:spPr>
      </p:pic>
    </p:spTree>
    <p:extLst>
      <p:ext uri="{BB962C8B-B14F-4D97-AF65-F5344CB8AC3E}">
        <p14:creationId xmlns:p14="http://schemas.microsoft.com/office/powerpoint/2010/main" val="2088744120"/>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7A3D7-C529-C88E-C82D-FB266E97260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F4E4BC-2814-9F3D-11DF-05D0A3D53D70}"/>
              </a:ext>
            </a:extLst>
          </p:cNvPr>
          <p:cNvSpPr>
            <a:spLocks noGrp="1"/>
          </p:cNvSpPr>
          <p:nvPr>
            <p:ph type="sldNum" sz="quarter" idx="12"/>
          </p:nvPr>
        </p:nvSpPr>
        <p:spPr/>
        <p:txBody>
          <a:bodyPr/>
          <a:lstStyle/>
          <a:p>
            <a:fld id="{9EA0BE3B-158A-4EDF-80DC-E394A0D1600F}" type="slidenum">
              <a:rPr lang="en-US" smtClean="0"/>
              <a:pPr/>
              <a:t>16</a:t>
            </a:fld>
            <a:endParaRPr lang="en-US"/>
          </a:p>
        </p:txBody>
      </p:sp>
      <p:sp>
        <p:nvSpPr>
          <p:cNvPr id="3" name="Title 2">
            <a:extLst>
              <a:ext uri="{FF2B5EF4-FFF2-40B4-BE49-F238E27FC236}">
                <a16:creationId xmlns:a16="http://schemas.microsoft.com/office/drawing/2014/main" id="{A0C0100E-CC6B-9711-4BFB-0359E781C06C}"/>
              </a:ext>
            </a:extLst>
          </p:cNvPr>
          <p:cNvSpPr>
            <a:spLocks noGrp="1"/>
          </p:cNvSpPr>
          <p:nvPr>
            <p:ph type="title"/>
          </p:nvPr>
        </p:nvSpPr>
        <p:spPr/>
        <p:txBody>
          <a:bodyPr/>
          <a:lstStyle/>
          <a:p>
            <a:r>
              <a:rPr lang="en-US"/>
              <a:t>Hạn chế của Standard RAG</a:t>
            </a:r>
          </a:p>
        </p:txBody>
      </p:sp>
      <p:sp>
        <p:nvSpPr>
          <p:cNvPr id="4" name="Content Placeholder 3">
            <a:extLst>
              <a:ext uri="{FF2B5EF4-FFF2-40B4-BE49-F238E27FC236}">
                <a16:creationId xmlns:a16="http://schemas.microsoft.com/office/drawing/2014/main" id="{20158D25-833E-539C-E1C8-C5C22CE49BBE}"/>
              </a:ext>
            </a:extLst>
          </p:cNvPr>
          <p:cNvSpPr>
            <a:spLocks noGrp="1"/>
          </p:cNvSpPr>
          <p:nvPr>
            <p:ph sz="quarter" idx="13"/>
          </p:nvPr>
        </p:nvSpPr>
        <p:spPr>
          <a:xfrm>
            <a:off x="860023" y="1016299"/>
            <a:ext cx="7368880" cy="3032549"/>
          </a:xfrm>
        </p:spPr>
        <p:txBody>
          <a:bodyPr/>
          <a:lstStyle/>
          <a:p>
            <a:pPr>
              <a:buFontTx/>
              <a:buChar char="-"/>
            </a:pPr>
            <a:r>
              <a:rPr lang="en-US" sz="2000">
                <a:latin typeface="+mn-lt"/>
              </a:rPr>
              <a:t>Tìm kiếm theo Chunks rời rạc nên khó trả lời các câu hỏi tổng hợp</a:t>
            </a:r>
            <a:endParaRPr lang="vi-VN" sz="2000">
              <a:latin typeface="+mn-lt"/>
            </a:endParaRPr>
          </a:p>
          <a:p>
            <a:pPr>
              <a:buFontTx/>
              <a:buChar char="-"/>
            </a:pPr>
            <a:r>
              <a:rPr lang="en-US" sz="2000">
                <a:latin typeface="+mn-lt"/>
              </a:rPr>
              <a:t>Không kết nối được các thông tin nằm rải rác ở nhiều tài liệu/trang khác nhau nếu chúng không chứa cùng từ khóa vector.</a:t>
            </a:r>
            <a:endParaRPr lang="vi-VN" sz="2000">
              <a:latin typeface="+mn-lt"/>
            </a:endParaRPr>
          </a:p>
          <a:p>
            <a:pPr>
              <a:buFontTx/>
              <a:buChar char="-"/>
            </a:pPr>
            <a:r>
              <a:rPr lang="vi-VN" sz="2000">
                <a:latin typeface="Calibri" panose="020F0502020204030204" pitchFamily="34" charset="0"/>
                <a:ea typeface="Calibri" panose="020F0502020204030204" pitchFamily="34" charset="0"/>
                <a:cs typeface="Calibri" panose="020F0502020204030204" pitchFamily="34" charset="0"/>
              </a:rPr>
              <a:t>Dễ bỏ sót mối quan hệ giữa giữa entities và relation</a:t>
            </a:r>
            <a:endParaRPr lang="en-US" sz="200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2C166398-7697-8318-975F-ED95EAEE38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1286" y="2865906"/>
            <a:ext cx="6611746" cy="3126411"/>
          </a:xfrm>
          <a:prstGeom prst="rect">
            <a:avLst/>
          </a:prstGeom>
        </p:spPr>
      </p:pic>
    </p:spTree>
    <p:extLst>
      <p:ext uri="{BB962C8B-B14F-4D97-AF65-F5344CB8AC3E}">
        <p14:creationId xmlns:p14="http://schemas.microsoft.com/office/powerpoint/2010/main" val="360462629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4447E-84FD-4C7D-72AE-CF44CF8D676F}"/>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9C4125B5-A669-C384-3E62-1F7C783064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7582" y="1459233"/>
            <a:ext cx="4349416" cy="4429155"/>
          </a:xfrm>
          <a:prstGeom prst="rect">
            <a:avLst/>
          </a:prstGeom>
        </p:spPr>
      </p:pic>
      <p:sp>
        <p:nvSpPr>
          <p:cNvPr id="2" name="Slide Number Placeholder 1">
            <a:extLst>
              <a:ext uri="{FF2B5EF4-FFF2-40B4-BE49-F238E27FC236}">
                <a16:creationId xmlns:a16="http://schemas.microsoft.com/office/drawing/2014/main" id="{001AD495-8031-25F3-D643-5AD98CD08671}"/>
              </a:ext>
            </a:extLst>
          </p:cNvPr>
          <p:cNvSpPr>
            <a:spLocks noGrp="1"/>
          </p:cNvSpPr>
          <p:nvPr>
            <p:ph type="sldNum" sz="quarter" idx="12"/>
          </p:nvPr>
        </p:nvSpPr>
        <p:spPr/>
        <p:txBody>
          <a:bodyPr/>
          <a:lstStyle/>
          <a:p>
            <a:fld id="{9EA0BE3B-158A-4EDF-80DC-E394A0D1600F}" type="slidenum">
              <a:rPr lang="en-US" smtClean="0"/>
              <a:pPr/>
              <a:t>17</a:t>
            </a:fld>
            <a:endParaRPr lang="en-US"/>
          </a:p>
        </p:txBody>
      </p:sp>
      <p:sp>
        <p:nvSpPr>
          <p:cNvPr id="3" name="Title 2">
            <a:extLst>
              <a:ext uri="{FF2B5EF4-FFF2-40B4-BE49-F238E27FC236}">
                <a16:creationId xmlns:a16="http://schemas.microsoft.com/office/drawing/2014/main" id="{6B9E09E9-9B3E-0B38-09C6-EE5CA0701C89}"/>
              </a:ext>
            </a:extLst>
          </p:cNvPr>
          <p:cNvSpPr>
            <a:spLocks noGrp="1"/>
          </p:cNvSpPr>
          <p:nvPr>
            <p:ph type="title"/>
          </p:nvPr>
        </p:nvSpPr>
        <p:spPr/>
        <p:txBody>
          <a:bodyPr/>
          <a:lstStyle/>
          <a:p>
            <a:r>
              <a:rPr lang="vi-VN"/>
              <a:t>Graph RAG</a:t>
            </a:r>
            <a:endParaRPr lang="en-US"/>
          </a:p>
        </p:txBody>
      </p:sp>
      <p:sp>
        <p:nvSpPr>
          <p:cNvPr id="4" name="Content Placeholder 3">
            <a:extLst>
              <a:ext uri="{FF2B5EF4-FFF2-40B4-BE49-F238E27FC236}">
                <a16:creationId xmlns:a16="http://schemas.microsoft.com/office/drawing/2014/main" id="{C1E46DBC-6A6E-20A1-8807-8C4DCEB06BA1}"/>
              </a:ext>
            </a:extLst>
          </p:cNvPr>
          <p:cNvSpPr>
            <a:spLocks noGrp="1"/>
          </p:cNvSpPr>
          <p:nvPr>
            <p:ph sz="quarter" idx="13"/>
          </p:nvPr>
        </p:nvSpPr>
        <p:spPr>
          <a:xfrm>
            <a:off x="4572000" y="2079376"/>
            <a:ext cx="4144418" cy="2440487"/>
          </a:xfrm>
        </p:spPr>
        <p:txBody>
          <a:bodyPr/>
          <a:lstStyle/>
          <a:p>
            <a:pPr>
              <a:buFontTx/>
              <a:buChar char="-"/>
            </a:pPr>
            <a:r>
              <a:rPr lang="vi-VN" sz="2000">
                <a:latin typeface="Calibri" panose="020F0502020204030204" pitchFamily="34" charset="0"/>
                <a:ea typeface="Calibri" panose="020F0502020204030204" pitchFamily="34" charset="0"/>
                <a:cs typeface="Calibri" panose="020F0502020204030204" pitchFamily="34" charset="0"/>
              </a:rPr>
              <a:t>Graph RAG= </a:t>
            </a:r>
            <a:r>
              <a:rPr lang="en-US" sz="2000">
                <a:latin typeface="Calibri" panose="020F0502020204030204" pitchFamily="34" charset="0"/>
                <a:ea typeface="Calibri" panose="020F0502020204030204" pitchFamily="34" charset="0"/>
                <a:cs typeface="Calibri" panose="020F0502020204030204" pitchFamily="34" charset="0"/>
              </a:rPr>
              <a:t>Knowledge </a:t>
            </a:r>
            <a:r>
              <a:rPr lang="vi-VN" sz="2000">
                <a:latin typeface="Calibri" panose="020F0502020204030204" pitchFamily="34" charset="0"/>
                <a:ea typeface="Calibri" panose="020F0502020204030204" pitchFamily="34" charset="0"/>
                <a:cs typeface="Calibri" panose="020F0502020204030204" pitchFamily="34" charset="0"/>
              </a:rPr>
              <a:t>graphs + RAG</a:t>
            </a:r>
          </a:p>
          <a:p>
            <a:pPr>
              <a:buFontTx/>
              <a:buChar char="-"/>
            </a:pPr>
            <a:r>
              <a:rPr lang="en-US" sz="2000">
                <a:latin typeface="Calibri" panose="020F0502020204030204" pitchFamily="34" charset="0"/>
                <a:ea typeface="Calibri" panose="020F0502020204030204" pitchFamily="34" charset="0"/>
                <a:cs typeface="Calibri" panose="020F0502020204030204" pitchFamily="34" charset="0"/>
              </a:rPr>
              <a:t>Thay vì chỉ truy xuất các đoạn văn bản dựa trên độ tương đồng vector, Graph RAG khai thác entity và relationship trong Knowledge Graph để tìm kiếm thông tin liên quan.</a:t>
            </a:r>
            <a:endParaRPr lang="vi-VN" sz="2000">
              <a:latin typeface="Calibri" panose="020F0502020204030204" pitchFamily="34" charset="0"/>
              <a:ea typeface="Calibri" panose="020F0502020204030204" pitchFamily="34" charset="0"/>
              <a:cs typeface="Calibri" panose="020F0502020204030204" pitchFamily="34" charset="0"/>
            </a:endParaRPr>
          </a:p>
          <a:p>
            <a:pPr>
              <a:buFontTx/>
              <a:buChar char="-"/>
            </a:pPr>
            <a:endParaRPr lang="en-US" sz="20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1029032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76345-A514-C76D-0B0C-9D2F55F39D2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1CCF48F-754B-EE45-D3E8-D1DBF1D0A823}"/>
              </a:ext>
            </a:extLst>
          </p:cNvPr>
          <p:cNvSpPr>
            <a:spLocks noGrp="1"/>
          </p:cNvSpPr>
          <p:nvPr>
            <p:ph type="sldNum" sz="quarter" idx="12"/>
          </p:nvPr>
        </p:nvSpPr>
        <p:spPr/>
        <p:txBody>
          <a:bodyPr/>
          <a:lstStyle/>
          <a:p>
            <a:fld id="{9EA0BE3B-158A-4EDF-80DC-E394A0D1600F}" type="slidenum">
              <a:rPr lang="en-US" smtClean="0"/>
              <a:pPr/>
              <a:t>18</a:t>
            </a:fld>
            <a:endParaRPr lang="en-US"/>
          </a:p>
        </p:txBody>
      </p:sp>
      <p:sp>
        <p:nvSpPr>
          <p:cNvPr id="3" name="Title 2">
            <a:extLst>
              <a:ext uri="{FF2B5EF4-FFF2-40B4-BE49-F238E27FC236}">
                <a16:creationId xmlns:a16="http://schemas.microsoft.com/office/drawing/2014/main" id="{B3747754-7743-04B7-4D0D-0ABB53B08271}"/>
              </a:ext>
            </a:extLst>
          </p:cNvPr>
          <p:cNvSpPr>
            <a:spLocks noGrp="1"/>
          </p:cNvSpPr>
          <p:nvPr>
            <p:ph type="title"/>
          </p:nvPr>
        </p:nvSpPr>
        <p:spPr/>
        <p:txBody>
          <a:bodyPr/>
          <a:lstStyle/>
          <a:p>
            <a:r>
              <a:rPr lang="en-US"/>
              <a:t>Standard Vector RAG vs. Graph RAG</a:t>
            </a:r>
          </a:p>
        </p:txBody>
      </p:sp>
      <p:graphicFrame>
        <p:nvGraphicFramePr>
          <p:cNvPr id="8" name="Table 7">
            <a:extLst>
              <a:ext uri="{FF2B5EF4-FFF2-40B4-BE49-F238E27FC236}">
                <a16:creationId xmlns:a16="http://schemas.microsoft.com/office/drawing/2014/main" id="{7CB6A735-2A98-866A-04D3-AEC58B94BAB1}"/>
              </a:ext>
            </a:extLst>
          </p:cNvPr>
          <p:cNvGraphicFramePr>
            <a:graphicFrameLocks noGrp="1"/>
          </p:cNvGraphicFramePr>
          <p:nvPr>
            <p:extLst>
              <p:ext uri="{D42A27DB-BD31-4B8C-83A1-F6EECF244321}">
                <p14:modId xmlns:p14="http://schemas.microsoft.com/office/powerpoint/2010/main" val="1097438502"/>
              </p:ext>
            </p:extLst>
          </p:nvPr>
        </p:nvGraphicFramePr>
        <p:xfrm>
          <a:off x="665746" y="955925"/>
          <a:ext cx="7611978" cy="5246384"/>
        </p:xfrm>
        <a:graphic>
          <a:graphicData uri="http://schemas.openxmlformats.org/drawingml/2006/table">
            <a:tbl>
              <a:tblPr firstRow="1" bandRow="1">
                <a:tableStyleId>{5C22544A-7EE6-4342-B048-85BDC9FD1C3A}</a:tableStyleId>
              </a:tblPr>
              <a:tblGrid>
                <a:gridCol w="2454443">
                  <a:extLst>
                    <a:ext uri="{9D8B030D-6E8A-4147-A177-3AD203B41FA5}">
                      <a16:colId xmlns:a16="http://schemas.microsoft.com/office/drawing/2014/main" val="2315627161"/>
                    </a:ext>
                  </a:extLst>
                </a:gridCol>
                <a:gridCol w="2620209">
                  <a:extLst>
                    <a:ext uri="{9D8B030D-6E8A-4147-A177-3AD203B41FA5}">
                      <a16:colId xmlns:a16="http://schemas.microsoft.com/office/drawing/2014/main" val="3620796130"/>
                    </a:ext>
                  </a:extLst>
                </a:gridCol>
                <a:gridCol w="2537326">
                  <a:extLst>
                    <a:ext uri="{9D8B030D-6E8A-4147-A177-3AD203B41FA5}">
                      <a16:colId xmlns:a16="http://schemas.microsoft.com/office/drawing/2014/main" val="325079348"/>
                    </a:ext>
                  </a:extLst>
                </a:gridCol>
              </a:tblGrid>
              <a:tr h="332256">
                <a:tc>
                  <a:txBody>
                    <a:bodyPr/>
                    <a:lstStyle/>
                    <a:p>
                      <a:pPr algn="ctr">
                        <a:buNone/>
                      </a:pPr>
                      <a:r>
                        <a:rPr lang="en-US" b="1"/>
                        <a:t>Tiêu chí</a:t>
                      </a:r>
                    </a:p>
                  </a:txBody>
                  <a:tcPr anchor="ctr"/>
                </a:tc>
                <a:tc>
                  <a:txBody>
                    <a:bodyPr/>
                    <a:lstStyle/>
                    <a:p>
                      <a:pPr algn="ctr"/>
                      <a:r>
                        <a:rPr lang="en-US" b="1"/>
                        <a:t>RAG </a:t>
                      </a:r>
                    </a:p>
                  </a:txBody>
                  <a:tcPr/>
                </a:tc>
                <a:tc>
                  <a:txBody>
                    <a:bodyPr/>
                    <a:lstStyle/>
                    <a:p>
                      <a:pPr algn="ctr">
                        <a:buNone/>
                      </a:pPr>
                      <a:r>
                        <a:rPr lang="en-US" b="1"/>
                        <a:t>Graph RAG</a:t>
                      </a:r>
                    </a:p>
                  </a:txBody>
                  <a:tcPr anchor="ctr"/>
                </a:tc>
                <a:extLst>
                  <a:ext uri="{0D108BD9-81ED-4DB2-BD59-A6C34878D82A}">
                    <a16:rowId xmlns:a16="http://schemas.microsoft.com/office/drawing/2014/main" val="3122076470"/>
                  </a:ext>
                </a:extLst>
              </a:tr>
              <a:tr h="637594">
                <a:tc>
                  <a:txBody>
                    <a:bodyPr/>
                    <a:lstStyle/>
                    <a:p>
                      <a:pPr algn="ctr">
                        <a:buNone/>
                      </a:pPr>
                      <a:r>
                        <a:rPr lang="en-US" b="1"/>
                        <a:t>Đơn vị truy xuất</a:t>
                      </a:r>
                    </a:p>
                  </a:txBody>
                  <a:tcPr anchor="ctr"/>
                </a:tc>
                <a:tc>
                  <a:txBody>
                    <a:bodyPr/>
                    <a:lstStyle/>
                    <a:p>
                      <a:pPr algn="ctr">
                        <a:buNone/>
                      </a:pPr>
                      <a:r>
                        <a:rPr lang="en-US" b="0"/>
                        <a:t>Document / Chunk</a:t>
                      </a:r>
                    </a:p>
                  </a:txBody>
                  <a:tcPr anchor="ctr"/>
                </a:tc>
                <a:tc>
                  <a:txBody>
                    <a:bodyPr/>
                    <a:lstStyle/>
                    <a:p>
                      <a:pPr algn="ctr">
                        <a:buNone/>
                      </a:pPr>
                      <a:r>
                        <a:rPr lang="en-US" b="0"/>
                        <a:t>Entity / Relation / Subgraph</a:t>
                      </a:r>
                    </a:p>
                  </a:txBody>
                  <a:tcPr anchor="ctr"/>
                </a:tc>
                <a:extLst>
                  <a:ext uri="{0D108BD9-81ED-4DB2-BD59-A6C34878D82A}">
                    <a16:rowId xmlns:a16="http://schemas.microsoft.com/office/drawing/2014/main" val="4084882977"/>
                  </a:ext>
                </a:extLst>
              </a:tr>
              <a:tr h="885832">
                <a:tc>
                  <a:txBody>
                    <a:bodyPr/>
                    <a:lstStyle/>
                    <a:p>
                      <a:pPr algn="ctr">
                        <a:buNone/>
                      </a:pPr>
                      <a:r>
                        <a:rPr lang="en-US" b="1"/>
                        <a:t>Quan hệ giữa thông tin</a:t>
                      </a:r>
                    </a:p>
                  </a:txBody>
                  <a:tcPr anchor="ctr"/>
                </a:tc>
                <a:tc>
                  <a:txBody>
                    <a:bodyPr/>
                    <a:lstStyle/>
                    <a:p>
                      <a:pPr algn="ctr">
                        <a:buNone/>
                      </a:pPr>
                      <a:r>
                        <a:rPr lang="en-US" b="0"/>
                        <a:t>Không biểu diễn rõ quan hệ</a:t>
                      </a:r>
                    </a:p>
                  </a:txBody>
                  <a:tcPr anchor="ctr"/>
                </a:tc>
                <a:tc>
                  <a:txBody>
                    <a:bodyPr/>
                    <a:lstStyle/>
                    <a:p>
                      <a:pPr algn="ctr">
                        <a:buNone/>
                      </a:pPr>
                      <a:r>
                        <a:rPr lang="en-US" b="0"/>
                        <a:t>Biểu diễn trực tiếp bằng Entity–Relation</a:t>
                      </a:r>
                    </a:p>
                  </a:txBody>
                  <a:tcPr anchor="ctr"/>
                </a:tc>
                <a:extLst>
                  <a:ext uri="{0D108BD9-81ED-4DB2-BD59-A6C34878D82A}">
                    <a16:rowId xmlns:a16="http://schemas.microsoft.com/office/drawing/2014/main" val="3287710268"/>
                  </a:ext>
                </a:extLst>
              </a:tr>
              <a:tr h="885832">
                <a:tc>
                  <a:txBody>
                    <a:bodyPr/>
                    <a:lstStyle/>
                    <a:p>
                      <a:pPr algn="ctr">
                        <a:buNone/>
                      </a:pPr>
                      <a:r>
                        <a:rPr lang="en-US" b="1"/>
                        <a:t>Multi-hop reasoning</a:t>
                      </a:r>
                    </a:p>
                  </a:txBody>
                  <a:tcPr anchor="ctr"/>
                </a:tc>
                <a:tc>
                  <a:txBody>
                    <a:bodyPr/>
                    <a:lstStyle/>
                    <a:p>
                      <a:pPr algn="ctr">
                        <a:buNone/>
                      </a:pPr>
                      <a:r>
                        <a:rPr lang="en-US" b="0"/>
                        <a:t>Khó khi thông tin nằm ở nhiều chunks</a:t>
                      </a:r>
                    </a:p>
                  </a:txBody>
                  <a:tcPr anchor="ctr"/>
                </a:tc>
                <a:tc>
                  <a:txBody>
                    <a:bodyPr/>
                    <a:lstStyle/>
                    <a:p>
                      <a:pPr algn="ctr">
                        <a:buNone/>
                      </a:pPr>
                      <a:r>
                        <a:rPr lang="en-US" b="0"/>
                        <a:t>Phù hợp hơn với các truy vấn nhiều bước</a:t>
                      </a:r>
                      <a:endParaRPr lang="vi-VN" b="0"/>
                    </a:p>
                  </a:txBody>
                  <a:tcPr anchor="ctr"/>
                </a:tc>
                <a:extLst>
                  <a:ext uri="{0D108BD9-81ED-4DB2-BD59-A6C34878D82A}">
                    <a16:rowId xmlns:a16="http://schemas.microsoft.com/office/drawing/2014/main" val="456881897"/>
                  </a:ext>
                </a:extLst>
              </a:tr>
              <a:tr h="637594">
                <a:tc>
                  <a:txBody>
                    <a:bodyPr/>
                    <a:lstStyle/>
                    <a:p>
                      <a:pPr algn="ctr">
                        <a:buNone/>
                      </a:pPr>
                      <a:r>
                        <a:rPr lang="en-US" b="1"/>
                        <a:t>Context</a:t>
                      </a:r>
                    </a:p>
                  </a:txBody>
                  <a:tcPr anchor="ctr"/>
                </a:tc>
                <a:tc>
                  <a:txBody>
                    <a:bodyPr/>
                    <a:lstStyle/>
                    <a:p>
                      <a:pPr algn="ctr">
                        <a:buNone/>
                      </a:pPr>
                      <a:r>
                        <a:rPr lang="en-US" b="0"/>
                        <a:t>Các đoạn text có độ tương đồng cao</a:t>
                      </a:r>
                    </a:p>
                  </a:txBody>
                  <a:tcPr anchor="ctr"/>
                </a:tc>
                <a:tc>
                  <a:txBody>
                    <a:bodyPr/>
                    <a:lstStyle/>
                    <a:p>
                      <a:pPr algn="ctr">
                        <a:buNone/>
                      </a:pPr>
                      <a:r>
                        <a:rPr lang="en-US" b="0"/>
                        <a:t>Subgraph + các tài liệu liên quan</a:t>
                      </a:r>
                    </a:p>
                  </a:txBody>
                  <a:tcPr anchor="ctr"/>
                </a:tc>
                <a:extLst>
                  <a:ext uri="{0D108BD9-81ED-4DB2-BD59-A6C34878D82A}">
                    <a16:rowId xmlns:a16="http://schemas.microsoft.com/office/drawing/2014/main" val="692850273"/>
                  </a:ext>
                </a:extLst>
              </a:tr>
              <a:tr h="910849">
                <a:tc>
                  <a:txBody>
                    <a:bodyPr/>
                    <a:lstStyle/>
                    <a:p>
                      <a:pPr algn="ctr">
                        <a:buNone/>
                      </a:pPr>
                      <a:r>
                        <a:rPr lang="en-US" b="1"/>
                        <a:t>Điểm mạnh</a:t>
                      </a:r>
                    </a:p>
                  </a:txBody>
                  <a:tcPr anchor="ctr"/>
                </a:tc>
                <a:tc>
                  <a:txBody>
                    <a:bodyPr/>
                    <a:lstStyle/>
                    <a:p>
                      <a:pPr algn="ctr">
                        <a:buNone/>
                      </a:pPr>
                      <a:r>
                        <a:rPr lang="en-US" b="0"/>
                        <a:t>Đơn giản, dễ triển khai, hiệu quả với semantic search</a:t>
                      </a:r>
                    </a:p>
                  </a:txBody>
                  <a:tcPr anchor="ctr"/>
                </a:tc>
                <a:tc>
                  <a:txBody>
                    <a:bodyPr/>
                    <a:lstStyle/>
                    <a:p>
                      <a:pPr algn="ctr">
                        <a:buNone/>
                      </a:pPr>
                      <a:r>
                        <a:rPr lang="en-US" b="0"/>
                        <a:t>Khai thác quan hệ và cấu trúc của tri thức</a:t>
                      </a:r>
                    </a:p>
                  </a:txBody>
                  <a:tcPr anchor="ctr"/>
                </a:tc>
                <a:extLst>
                  <a:ext uri="{0D108BD9-81ED-4DB2-BD59-A6C34878D82A}">
                    <a16:rowId xmlns:a16="http://schemas.microsoft.com/office/drawing/2014/main" val="3349430076"/>
                  </a:ext>
                </a:extLst>
              </a:tr>
              <a:tr h="910849">
                <a:tc>
                  <a:txBody>
                    <a:bodyPr/>
                    <a:lstStyle/>
                    <a:p>
                      <a:pPr algn="ctr">
                        <a:buNone/>
                      </a:pPr>
                      <a:r>
                        <a:rPr lang="en-US" b="1"/>
                        <a:t>Hạn chế</a:t>
                      </a:r>
                    </a:p>
                  </a:txBody>
                  <a:tcPr anchor="ctr"/>
                </a:tc>
                <a:tc>
                  <a:txBody>
                    <a:bodyPr/>
                    <a:lstStyle/>
                    <a:p>
                      <a:pPr algn="ctr">
                        <a:buNone/>
                      </a:pPr>
                      <a:r>
                        <a:rPr lang="en-US" b="0"/>
                        <a:t>bỏ sót quan hệ giữa các chunks</a:t>
                      </a:r>
                    </a:p>
                  </a:txBody>
                  <a:tcPr anchor="ctr"/>
                </a:tc>
                <a:tc>
                  <a:txBody>
                    <a:bodyPr/>
                    <a:lstStyle/>
                    <a:p>
                      <a:pPr algn="ctr">
                        <a:buNone/>
                      </a:pPr>
                      <a:r>
                        <a:rPr lang="en-US" b="0"/>
                        <a:t>Xây dựng và duy trì Knowledge Graph phức tạp hơn</a:t>
                      </a:r>
                    </a:p>
                  </a:txBody>
                  <a:tcPr anchor="ctr"/>
                </a:tc>
                <a:extLst>
                  <a:ext uri="{0D108BD9-81ED-4DB2-BD59-A6C34878D82A}">
                    <a16:rowId xmlns:a16="http://schemas.microsoft.com/office/drawing/2014/main" val="1728947162"/>
                  </a:ext>
                </a:extLst>
              </a:tr>
            </a:tbl>
          </a:graphicData>
        </a:graphic>
      </p:graphicFrame>
    </p:spTree>
    <p:extLst>
      <p:ext uri="{BB962C8B-B14F-4D97-AF65-F5344CB8AC3E}">
        <p14:creationId xmlns:p14="http://schemas.microsoft.com/office/powerpoint/2010/main" val="2988256984"/>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D896C-BADB-F332-26FC-BE88F274072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677EC8-0AF5-041A-4383-2085B41B4CDF}"/>
              </a:ext>
            </a:extLst>
          </p:cNvPr>
          <p:cNvSpPr>
            <a:spLocks noGrp="1"/>
          </p:cNvSpPr>
          <p:nvPr>
            <p:ph type="sldNum" sz="quarter" idx="12"/>
          </p:nvPr>
        </p:nvSpPr>
        <p:spPr/>
        <p:txBody>
          <a:bodyPr/>
          <a:lstStyle/>
          <a:p>
            <a:fld id="{9EA0BE3B-158A-4EDF-80DC-E394A0D1600F}" type="slidenum">
              <a:rPr lang="en-US" smtClean="0"/>
              <a:pPr/>
              <a:t>19</a:t>
            </a:fld>
            <a:endParaRPr lang="en-US"/>
          </a:p>
        </p:txBody>
      </p:sp>
      <p:sp>
        <p:nvSpPr>
          <p:cNvPr id="3" name="Title 2">
            <a:extLst>
              <a:ext uri="{FF2B5EF4-FFF2-40B4-BE49-F238E27FC236}">
                <a16:creationId xmlns:a16="http://schemas.microsoft.com/office/drawing/2014/main" id="{2B6C03A3-C6A4-666A-9569-88CD0AC1DF8C}"/>
              </a:ext>
            </a:extLst>
          </p:cNvPr>
          <p:cNvSpPr>
            <a:spLocks noGrp="1"/>
          </p:cNvSpPr>
          <p:nvPr>
            <p:ph type="title"/>
          </p:nvPr>
        </p:nvSpPr>
        <p:spPr/>
        <p:txBody>
          <a:bodyPr/>
          <a:lstStyle/>
          <a:p>
            <a:r>
              <a:rPr lang="en-US"/>
              <a:t>Pipeline của Graph RAG</a:t>
            </a:r>
          </a:p>
        </p:txBody>
      </p:sp>
      <p:sp>
        <p:nvSpPr>
          <p:cNvPr id="4" name="Content Placeholder 3">
            <a:extLst>
              <a:ext uri="{FF2B5EF4-FFF2-40B4-BE49-F238E27FC236}">
                <a16:creationId xmlns:a16="http://schemas.microsoft.com/office/drawing/2014/main" id="{1071EA45-9095-8897-ECCE-33612A259435}"/>
              </a:ext>
            </a:extLst>
          </p:cNvPr>
          <p:cNvSpPr>
            <a:spLocks noGrp="1"/>
          </p:cNvSpPr>
          <p:nvPr>
            <p:ph sz="quarter" idx="13"/>
          </p:nvPr>
        </p:nvSpPr>
        <p:spPr>
          <a:xfrm>
            <a:off x="320627" y="900913"/>
            <a:ext cx="4144418" cy="2440487"/>
          </a:xfrm>
        </p:spPr>
        <p:txBody>
          <a:bodyPr/>
          <a:lstStyle/>
          <a:p>
            <a:pPr>
              <a:buFontTx/>
              <a:buChar char="-"/>
            </a:pPr>
            <a:r>
              <a:rPr lang="vi-VN" sz="2000">
                <a:latin typeface="Calibri" panose="020F0502020204030204" pitchFamily="34" charset="0"/>
                <a:ea typeface="Calibri" panose="020F0502020204030204" pitchFamily="34" charset="0"/>
                <a:cs typeface="Calibri" panose="020F0502020204030204" pitchFamily="34" charset="0"/>
              </a:rPr>
              <a:t>thu thập dữ liệu đầu vào, trích xuất Knowledge graph bằng các entity và relation từ dữ liệu</a:t>
            </a:r>
          </a:p>
          <a:p>
            <a:pPr>
              <a:buFontTx/>
              <a:buChar char="-"/>
            </a:pPr>
            <a:r>
              <a:rPr lang="vi-VN" sz="2000">
                <a:latin typeface="Calibri" panose="020F0502020204030204" pitchFamily="34" charset="0"/>
                <a:ea typeface="Calibri" panose="020F0502020204030204" pitchFamily="34" charset="0"/>
                <a:cs typeface="Calibri" panose="020F0502020204030204" pitchFamily="34" charset="0"/>
              </a:rPr>
              <a:t>khi user hỏi: xác định entity, concept đề cập tới. hệ thống truy xuất các node và relationship có liên quan trong KG</a:t>
            </a:r>
          </a:p>
          <a:p>
            <a:pPr>
              <a:buFontTx/>
              <a:buChar char="-"/>
            </a:pPr>
            <a:r>
              <a:rPr lang="vi-VN" sz="2000">
                <a:latin typeface="Calibri" panose="020F0502020204030204" pitchFamily="34" charset="0"/>
                <a:ea typeface="Calibri" panose="020F0502020204030204" pitchFamily="34" charset="0"/>
                <a:cs typeface="Calibri" panose="020F0502020204030204" pitchFamily="34" charset="0"/>
              </a:rPr>
              <a:t>cuối cùng LLM sử dụng câu hỏi và context truy xuất được để gen câu trả lời</a:t>
            </a:r>
          </a:p>
          <a:p>
            <a:pPr>
              <a:buFontTx/>
              <a:buChar char="-"/>
            </a:pPr>
            <a:endParaRPr lang="vi-VN" sz="2000">
              <a:latin typeface="Calibri" panose="020F0502020204030204" pitchFamily="34" charset="0"/>
              <a:ea typeface="Calibri" panose="020F0502020204030204" pitchFamily="34" charset="0"/>
              <a:cs typeface="Calibri" panose="020F0502020204030204" pitchFamily="34" charset="0"/>
            </a:endParaRPr>
          </a:p>
          <a:p>
            <a:pPr>
              <a:buFontTx/>
              <a:buChar char="-"/>
            </a:pPr>
            <a:endParaRPr lang="vi-VN" sz="2000">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42A97A06-9385-2A41-DB9E-66EBB81EFB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8141" y="3711961"/>
            <a:ext cx="3037417" cy="2437623"/>
          </a:xfrm>
          <a:prstGeom prst="rect">
            <a:avLst/>
          </a:prstGeom>
        </p:spPr>
      </p:pic>
      <p:pic>
        <p:nvPicPr>
          <p:cNvPr id="11" name="Picture 10">
            <a:extLst>
              <a:ext uri="{FF2B5EF4-FFF2-40B4-BE49-F238E27FC236}">
                <a16:creationId xmlns:a16="http://schemas.microsoft.com/office/drawing/2014/main" id="{F42C3373-4FAB-2847-6E23-74E11342BD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6189" y="953414"/>
            <a:ext cx="3575747" cy="5168991"/>
          </a:xfrm>
          <a:prstGeom prst="rect">
            <a:avLst/>
          </a:prstGeom>
        </p:spPr>
      </p:pic>
    </p:spTree>
    <p:extLst>
      <p:ext uri="{BB962C8B-B14F-4D97-AF65-F5344CB8AC3E}">
        <p14:creationId xmlns:p14="http://schemas.microsoft.com/office/powerpoint/2010/main" val="3207919116"/>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D2FED-9592-F9A9-BFA6-6E39DFBAE42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FE3D6AB-D049-F345-9DB0-2C9FF2A6896F}"/>
              </a:ext>
            </a:extLst>
          </p:cNvPr>
          <p:cNvSpPr>
            <a:spLocks noGrp="1"/>
          </p:cNvSpPr>
          <p:nvPr>
            <p:ph type="sldNum" sz="quarter" idx="12"/>
          </p:nvPr>
        </p:nvSpPr>
        <p:spPr/>
        <p:txBody>
          <a:bodyPr/>
          <a:lstStyle/>
          <a:p>
            <a:fld id="{9EA0BE3B-158A-4EDF-80DC-E394A0D1600F}" type="slidenum">
              <a:rPr lang="en-US" smtClean="0"/>
              <a:pPr/>
              <a:t>20</a:t>
            </a:fld>
            <a:endParaRPr lang="en-US"/>
          </a:p>
        </p:txBody>
      </p:sp>
      <p:sp>
        <p:nvSpPr>
          <p:cNvPr id="3" name="Title 2">
            <a:extLst>
              <a:ext uri="{FF2B5EF4-FFF2-40B4-BE49-F238E27FC236}">
                <a16:creationId xmlns:a16="http://schemas.microsoft.com/office/drawing/2014/main" id="{0DA81A1E-05F3-B843-56EB-7AA8FB53A14F}"/>
              </a:ext>
            </a:extLst>
          </p:cNvPr>
          <p:cNvSpPr>
            <a:spLocks noGrp="1"/>
          </p:cNvSpPr>
          <p:nvPr>
            <p:ph type="title"/>
          </p:nvPr>
        </p:nvSpPr>
        <p:spPr/>
        <p:txBody>
          <a:bodyPr/>
          <a:lstStyle/>
          <a:p>
            <a:r>
              <a:rPr lang="en-US"/>
              <a:t>Hai phương pháp Retrieval chính trong Graph RAG</a:t>
            </a:r>
          </a:p>
        </p:txBody>
      </p:sp>
      <p:sp>
        <p:nvSpPr>
          <p:cNvPr id="4" name="Content Placeholder 3">
            <a:extLst>
              <a:ext uri="{FF2B5EF4-FFF2-40B4-BE49-F238E27FC236}">
                <a16:creationId xmlns:a16="http://schemas.microsoft.com/office/drawing/2014/main" id="{1E35C1DC-0084-298C-8E03-A0258BE304DC}"/>
              </a:ext>
            </a:extLst>
          </p:cNvPr>
          <p:cNvSpPr>
            <a:spLocks noGrp="1"/>
          </p:cNvSpPr>
          <p:nvPr>
            <p:ph sz="quarter" idx="13"/>
          </p:nvPr>
        </p:nvSpPr>
        <p:spPr>
          <a:xfrm>
            <a:off x="4692316" y="1397586"/>
            <a:ext cx="4144418" cy="2440487"/>
          </a:xfrm>
        </p:spPr>
        <p:txBody>
          <a:bodyPr/>
          <a:lstStyle/>
          <a:p>
            <a:pPr>
              <a:buFontTx/>
              <a:buChar char="-"/>
            </a:pPr>
            <a:r>
              <a:rPr lang="en-US" sz="1800">
                <a:latin typeface="Calibri" panose="020F0502020204030204" pitchFamily="34" charset="0"/>
                <a:ea typeface="Calibri" panose="020F0502020204030204" pitchFamily="34" charset="0"/>
                <a:cs typeface="Calibri" panose="020F0502020204030204" pitchFamily="34" charset="0"/>
              </a:rPr>
              <a:t>Local </a:t>
            </a:r>
            <a:r>
              <a:rPr lang="vi-VN" sz="1800">
                <a:latin typeface="Calibri" panose="020F0502020204030204" pitchFamily="34" charset="0"/>
                <a:ea typeface="Calibri" panose="020F0502020204030204" pitchFamily="34" charset="0"/>
                <a:cs typeface="Calibri" panose="020F0502020204030204" pitchFamily="34" charset="0"/>
              </a:rPr>
              <a:t>Search:</a:t>
            </a:r>
          </a:p>
          <a:p>
            <a:pPr lvl="1">
              <a:buFontTx/>
              <a:buChar char="-"/>
            </a:pPr>
            <a:r>
              <a:rPr lang="en-US" sz="1800">
                <a:latin typeface="Calibri" panose="020F0502020204030204" pitchFamily="34" charset="0"/>
                <a:ea typeface="Calibri" panose="020F0502020204030204" pitchFamily="34" charset="0"/>
                <a:cs typeface="Calibri" panose="020F0502020204030204" pitchFamily="34" charset="0"/>
              </a:rPr>
              <a:t>Mục tiêu: Trả lời chi tiết về một thực thể cụ thể.</a:t>
            </a:r>
            <a:endParaRPr lang="vi-VN" sz="1800">
              <a:latin typeface="Calibri" panose="020F0502020204030204" pitchFamily="34" charset="0"/>
              <a:ea typeface="Calibri" panose="020F0502020204030204" pitchFamily="34" charset="0"/>
              <a:cs typeface="Calibri" panose="020F0502020204030204" pitchFamily="34" charset="0"/>
            </a:endParaRPr>
          </a:p>
          <a:p>
            <a:pPr lvl="1">
              <a:buFontTx/>
              <a:buChar char="-"/>
            </a:pPr>
            <a:r>
              <a:rPr lang="en-US" sz="1800">
                <a:latin typeface="Calibri" panose="020F0502020204030204" pitchFamily="34" charset="0"/>
                <a:ea typeface="Calibri" panose="020F0502020204030204" pitchFamily="34" charset="0"/>
                <a:cs typeface="Calibri" panose="020F0502020204030204" pitchFamily="34" charset="0"/>
              </a:rPr>
              <a:t>Cách hoạt động: Tìm Node liên quan </a:t>
            </a:r>
            <a:r>
              <a:rPr lang="vi-VN" sz="1800">
                <a:latin typeface="Calibri" panose="020F0502020204030204" pitchFamily="34" charset="0"/>
                <a:ea typeface="Calibri" panose="020F0502020204030204" pitchFamily="34" charset="0"/>
                <a:cs typeface="Calibri" panose="020F0502020204030204" pitchFamily="34" charset="0"/>
              </a:rPr>
              <a:t>-&gt; </a:t>
            </a:r>
            <a:r>
              <a:rPr lang="en-US" sz="1800">
                <a:latin typeface="Calibri" panose="020F0502020204030204" pitchFamily="34" charset="0"/>
                <a:ea typeface="Calibri" panose="020F0502020204030204" pitchFamily="34" charset="0"/>
                <a:cs typeface="Calibri" panose="020F0502020204030204" pitchFamily="34" charset="0"/>
              </a:rPr>
              <a:t>Lấy Neighboring </a:t>
            </a:r>
            <a:r>
              <a:rPr lang="vi-VN" sz="1800">
                <a:latin typeface="Calibri" panose="020F0502020204030204" pitchFamily="34" charset="0"/>
                <a:ea typeface="Calibri" panose="020F0502020204030204" pitchFamily="34" charset="0"/>
                <a:cs typeface="Calibri" panose="020F0502020204030204" pitchFamily="34" charset="0"/>
              </a:rPr>
              <a:t>Nodes, </a:t>
            </a:r>
            <a:r>
              <a:rPr lang="en-US" sz="1800">
                <a:latin typeface="Calibri" panose="020F0502020204030204" pitchFamily="34" charset="0"/>
                <a:ea typeface="Calibri" panose="020F0502020204030204" pitchFamily="34" charset="0"/>
                <a:cs typeface="Calibri" panose="020F0502020204030204" pitchFamily="34" charset="0"/>
              </a:rPr>
              <a:t>Text Chunks tương ứng.</a:t>
            </a:r>
            <a:endParaRPr lang="vi-VN" sz="1800">
              <a:latin typeface="Calibri" panose="020F0502020204030204" pitchFamily="34" charset="0"/>
              <a:ea typeface="Calibri" panose="020F0502020204030204" pitchFamily="34" charset="0"/>
              <a:cs typeface="Calibri" panose="020F0502020204030204" pitchFamily="34" charset="0"/>
            </a:endParaRPr>
          </a:p>
          <a:p>
            <a:pPr>
              <a:buFontTx/>
              <a:buChar char="-"/>
            </a:pPr>
            <a:r>
              <a:rPr lang="en-US" sz="1800">
                <a:latin typeface="Calibri" panose="020F0502020204030204" pitchFamily="34" charset="0"/>
                <a:ea typeface="Calibri" panose="020F0502020204030204" pitchFamily="34" charset="0"/>
                <a:cs typeface="Calibri" panose="020F0502020204030204" pitchFamily="34" charset="0"/>
              </a:rPr>
              <a:t>Global </a:t>
            </a:r>
            <a:r>
              <a:rPr lang="vi-VN" sz="1800">
                <a:latin typeface="Calibri" panose="020F0502020204030204" pitchFamily="34" charset="0"/>
                <a:ea typeface="Calibri" panose="020F0502020204030204" pitchFamily="34" charset="0"/>
                <a:cs typeface="Calibri" panose="020F0502020204030204" pitchFamily="34" charset="0"/>
              </a:rPr>
              <a:t>Search:</a:t>
            </a:r>
          </a:p>
          <a:p>
            <a:pPr lvl="1">
              <a:buFontTx/>
              <a:buChar char="-"/>
            </a:pPr>
            <a:r>
              <a:rPr lang="en-US" sz="1800">
                <a:latin typeface="Calibri" panose="020F0502020204030204" pitchFamily="34" charset="0"/>
                <a:ea typeface="Calibri" panose="020F0502020204030204" pitchFamily="34" charset="0"/>
                <a:cs typeface="Calibri" panose="020F0502020204030204" pitchFamily="34" charset="0"/>
              </a:rPr>
              <a:t>Mục tiêu: Trả lời câu hỏi tổng quan, tóm tắt toàn bộ dữ liệu</a:t>
            </a:r>
            <a:endParaRPr lang="vi-VN" sz="1800">
              <a:latin typeface="Calibri" panose="020F0502020204030204" pitchFamily="34" charset="0"/>
              <a:ea typeface="Calibri" panose="020F0502020204030204" pitchFamily="34" charset="0"/>
              <a:cs typeface="Calibri" panose="020F0502020204030204" pitchFamily="34" charset="0"/>
            </a:endParaRPr>
          </a:p>
          <a:p>
            <a:pPr lvl="1">
              <a:buFontTx/>
              <a:buChar char="-"/>
            </a:pPr>
            <a:r>
              <a:rPr lang="en-US" sz="1800">
                <a:latin typeface="Calibri" panose="020F0502020204030204" pitchFamily="34" charset="0"/>
                <a:ea typeface="Calibri" panose="020F0502020204030204" pitchFamily="34" charset="0"/>
                <a:cs typeface="Calibri" panose="020F0502020204030204" pitchFamily="34" charset="0"/>
              </a:rPr>
              <a:t>Cách hoạt động: </a:t>
            </a:r>
            <a:r>
              <a:rPr lang="vi-VN" sz="1800">
                <a:latin typeface="Calibri" panose="020F0502020204030204" pitchFamily="34" charset="0"/>
                <a:ea typeface="Calibri" panose="020F0502020204030204" pitchFamily="34" charset="0"/>
                <a:cs typeface="Calibri" panose="020F0502020204030204" pitchFamily="34" charset="0"/>
              </a:rPr>
              <a:t>gom thành các </a:t>
            </a:r>
            <a:r>
              <a:rPr lang="en-US" sz="1800">
                <a:latin typeface="Calibri" panose="020F0502020204030204" pitchFamily="34" charset="0"/>
                <a:ea typeface="Calibri" panose="020F0502020204030204" pitchFamily="34" charset="0"/>
                <a:cs typeface="Calibri" panose="020F0502020204030204" pitchFamily="34" charset="0"/>
              </a:rPr>
              <a:t>Community </a:t>
            </a:r>
            <a:r>
              <a:rPr lang="vi-VN" sz="1800">
                <a:latin typeface="Calibri" panose="020F0502020204030204" pitchFamily="34" charset="0"/>
                <a:ea typeface="Calibri" panose="020F0502020204030204" pitchFamily="34" charset="0"/>
                <a:cs typeface="Calibri" panose="020F0502020204030204" pitchFamily="34" charset="0"/>
              </a:rPr>
              <a:t>Detection, tóm tắt theo từng community -&gt; tổng hợp câu trả lời</a:t>
            </a:r>
          </a:p>
        </p:txBody>
      </p:sp>
      <p:pic>
        <p:nvPicPr>
          <p:cNvPr id="6" name="Picture 5">
            <a:extLst>
              <a:ext uri="{FF2B5EF4-FFF2-40B4-BE49-F238E27FC236}">
                <a16:creationId xmlns:a16="http://schemas.microsoft.com/office/drawing/2014/main" id="{472C1680-1AC2-94B6-AFC6-C7E0AD4773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6792" y="1549610"/>
            <a:ext cx="4315524" cy="4003257"/>
          </a:xfrm>
          <a:prstGeom prst="rect">
            <a:avLst/>
          </a:prstGeom>
        </p:spPr>
      </p:pic>
    </p:spTree>
    <p:extLst>
      <p:ext uri="{BB962C8B-B14F-4D97-AF65-F5344CB8AC3E}">
        <p14:creationId xmlns:p14="http://schemas.microsoft.com/office/powerpoint/2010/main" val="79016091"/>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BAEFF-8259-CF21-2FAD-C006474EBB9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438E1BC-1C2F-B0B3-0633-C35221CBFBEC}"/>
              </a:ext>
            </a:extLst>
          </p:cNvPr>
          <p:cNvSpPr>
            <a:spLocks noGrp="1"/>
          </p:cNvSpPr>
          <p:nvPr>
            <p:ph type="sldNum" sz="quarter" idx="12"/>
          </p:nvPr>
        </p:nvSpPr>
        <p:spPr/>
        <p:txBody>
          <a:bodyPr/>
          <a:lstStyle/>
          <a:p>
            <a:fld id="{9EA0BE3B-158A-4EDF-80DC-E394A0D1600F}" type="slidenum">
              <a:rPr lang="en-US" smtClean="0"/>
              <a:pPr/>
              <a:t>21</a:t>
            </a:fld>
            <a:endParaRPr lang="en-US"/>
          </a:p>
        </p:txBody>
      </p:sp>
      <p:sp>
        <p:nvSpPr>
          <p:cNvPr id="3" name="Title 2">
            <a:extLst>
              <a:ext uri="{FF2B5EF4-FFF2-40B4-BE49-F238E27FC236}">
                <a16:creationId xmlns:a16="http://schemas.microsoft.com/office/drawing/2014/main" id="{653DE169-A18E-593D-2E7D-638FBE7D470E}"/>
              </a:ext>
            </a:extLst>
          </p:cNvPr>
          <p:cNvSpPr>
            <a:spLocks noGrp="1"/>
          </p:cNvSpPr>
          <p:nvPr>
            <p:ph type="title"/>
          </p:nvPr>
        </p:nvSpPr>
        <p:spPr/>
        <p:txBody>
          <a:bodyPr/>
          <a:lstStyle/>
          <a:p>
            <a:r>
              <a:rPr lang="vi-VN"/>
              <a:t>Graph RAG </a:t>
            </a:r>
            <a:r>
              <a:rPr lang="en-US"/>
              <a:t>Evaluation</a:t>
            </a:r>
          </a:p>
        </p:txBody>
      </p:sp>
      <p:sp>
        <p:nvSpPr>
          <p:cNvPr id="4" name="Content Placeholder 3">
            <a:extLst>
              <a:ext uri="{FF2B5EF4-FFF2-40B4-BE49-F238E27FC236}">
                <a16:creationId xmlns:a16="http://schemas.microsoft.com/office/drawing/2014/main" id="{EC2A494F-7642-CB6B-050B-A2A46E283B33}"/>
              </a:ext>
            </a:extLst>
          </p:cNvPr>
          <p:cNvSpPr>
            <a:spLocks noGrp="1"/>
          </p:cNvSpPr>
          <p:nvPr>
            <p:ph sz="quarter" idx="13"/>
          </p:nvPr>
        </p:nvSpPr>
        <p:spPr>
          <a:xfrm>
            <a:off x="-88231" y="1782597"/>
            <a:ext cx="2430378" cy="2440487"/>
          </a:xfrm>
        </p:spPr>
        <p:txBody>
          <a:bodyPr/>
          <a:lstStyle/>
          <a:p>
            <a:pPr>
              <a:buFontTx/>
              <a:buChar char="-"/>
            </a:pPr>
            <a:r>
              <a:rPr lang="vi-VN" sz="2000">
                <a:latin typeface="Calibri" panose="020F0502020204030204" pitchFamily="34" charset="0"/>
                <a:ea typeface="Calibri" panose="020F0502020204030204" pitchFamily="34" charset="0"/>
                <a:cs typeface="Calibri" panose="020F0502020204030204" pitchFamily="34" charset="0"/>
              </a:rPr>
              <a:t>Retrieval: "Tìm đúng thông tin chưa?"</a:t>
            </a:r>
          </a:p>
          <a:p>
            <a:pPr>
              <a:buFontTx/>
              <a:buChar char="-"/>
            </a:pPr>
            <a:r>
              <a:rPr lang="vi-VN" sz="2000">
                <a:latin typeface="Calibri" panose="020F0502020204030204" pitchFamily="34" charset="0"/>
                <a:ea typeface="Calibri" panose="020F0502020204030204" pitchFamily="34" charset="0"/>
                <a:cs typeface="Calibri" panose="020F0502020204030204" pitchFamily="34" charset="0"/>
              </a:rPr>
              <a:t>Context: "Thông tin lấy được có đủ và phù hợp chưa?"</a:t>
            </a:r>
          </a:p>
          <a:p>
            <a:pPr>
              <a:buFontTx/>
              <a:buChar char="-"/>
            </a:pPr>
            <a:r>
              <a:rPr lang="vi-VN" sz="2000">
                <a:latin typeface="Calibri" panose="020F0502020204030204" pitchFamily="34" charset="0"/>
                <a:ea typeface="Calibri" panose="020F0502020204030204" pitchFamily="34" charset="0"/>
                <a:cs typeface="Calibri" panose="020F0502020204030204" pitchFamily="34" charset="0"/>
              </a:rPr>
              <a:t>Answer: "LLM trả lời đúng và có căn cứ không?"</a:t>
            </a:r>
            <a:endParaRPr lang="en-US" sz="200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44629EA2-AD50-8141-29F7-7FAC33F156E4}"/>
              </a:ext>
            </a:extLst>
          </p:cNvPr>
          <p:cNvPicPr>
            <a:picLocks noChangeAspect="1"/>
          </p:cNvPicPr>
          <p:nvPr/>
        </p:nvPicPr>
        <p:blipFill>
          <a:blip r:embed="rId2"/>
          <a:stretch>
            <a:fillRect/>
          </a:stretch>
        </p:blipFill>
        <p:spPr>
          <a:xfrm>
            <a:off x="2424825" y="1543790"/>
            <a:ext cx="6582818" cy="3497708"/>
          </a:xfrm>
          <a:prstGeom prst="rect">
            <a:avLst/>
          </a:prstGeom>
        </p:spPr>
      </p:pic>
    </p:spTree>
    <p:extLst>
      <p:ext uri="{BB962C8B-B14F-4D97-AF65-F5344CB8AC3E}">
        <p14:creationId xmlns:p14="http://schemas.microsoft.com/office/powerpoint/2010/main" val="257507310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63432-58F6-B79C-E1D0-EF0EC46A83B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C5B57F-076C-B059-6E8C-BCFC9D7379C4}"/>
              </a:ext>
            </a:extLst>
          </p:cNvPr>
          <p:cNvSpPr>
            <a:spLocks noGrp="1"/>
          </p:cNvSpPr>
          <p:nvPr>
            <p:ph type="sldNum" sz="quarter" idx="12"/>
          </p:nvPr>
        </p:nvSpPr>
        <p:spPr/>
        <p:txBody>
          <a:bodyPr/>
          <a:lstStyle/>
          <a:p>
            <a:fld id="{9EA0BE3B-158A-4EDF-80DC-E394A0D1600F}" type="slidenum">
              <a:rPr lang="en-US" smtClean="0"/>
              <a:pPr/>
              <a:t>22</a:t>
            </a:fld>
            <a:endParaRPr lang="en-US"/>
          </a:p>
        </p:txBody>
      </p:sp>
      <p:sp>
        <p:nvSpPr>
          <p:cNvPr id="3" name="Title 2">
            <a:extLst>
              <a:ext uri="{FF2B5EF4-FFF2-40B4-BE49-F238E27FC236}">
                <a16:creationId xmlns:a16="http://schemas.microsoft.com/office/drawing/2014/main" id="{16E891CA-6CEC-F77E-EDDC-69449CA7AA4F}"/>
              </a:ext>
            </a:extLst>
          </p:cNvPr>
          <p:cNvSpPr>
            <a:spLocks noGrp="1"/>
          </p:cNvSpPr>
          <p:nvPr>
            <p:ph type="title"/>
          </p:nvPr>
        </p:nvSpPr>
        <p:spPr/>
        <p:txBody>
          <a:bodyPr/>
          <a:lstStyle/>
          <a:p>
            <a:r>
              <a:rPr lang="vi-VN"/>
              <a:t>Graph RAG </a:t>
            </a:r>
            <a:r>
              <a:rPr lang="en-US"/>
              <a:t>Evaluation</a:t>
            </a:r>
          </a:p>
        </p:txBody>
      </p:sp>
      <p:graphicFrame>
        <p:nvGraphicFramePr>
          <p:cNvPr id="5" name="Table 4">
            <a:extLst>
              <a:ext uri="{FF2B5EF4-FFF2-40B4-BE49-F238E27FC236}">
                <a16:creationId xmlns:a16="http://schemas.microsoft.com/office/drawing/2014/main" id="{1A9F1B77-1737-2C9A-9739-34894F14A418}"/>
              </a:ext>
            </a:extLst>
          </p:cNvPr>
          <p:cNvGraphicFramePr>
            <a:graphicFrameLocks noGrp="1"/>
          </p:cNvGraphicFramePr>
          <p:nvPr>
            <p:extLst>
              <p:ext uri="{D42A27DB-BD31-4B8C-83A1-F6EECF244321}">
                <p14:modId xmlns:p14="http://schemas.microsoft.com/office/powerpoint/2010/main" val="1376829537"/>
              </p:ext>
            </p:extLst>
          </p:nvPr>
        </p:nvGraphicFramePr>
        <p:xfrm>
          <a:off x="291225" y="986589"/>
          <a:ext cx="8315365" cy="4715532"/>
        </p:xfrm>
        <a:graphic>
          <a:graphicData uri="http://schemas.openxmlformats.org/drawingml/2006/table">
            <a:tbl>
              <a:tblPr firstRow="1" bandRow="1">
                <a:tableStyleId>{5C22544A-7EE6-4342-B048-85BDC9FD1C3A}</a:tableStyleId>
              </a:tblPr>
              <a:tblGrid>
                <a:gridCol w="1830364">
                  <a:extLst>
                    <a:ext uri="{9D8B030D-6E8A-4147-A177-3AD203B41FA5}">
                      <a16:colId xmlns:a16="http://schemas.microsoft.com/office/drawing/2014/main" val="530056167"/>
                    </a:ext>
                  </a:extLst>
                </a:gridCol>
                <a:gridCol w="3084074">
                  <a:extLst>
                    <a:ext uri="{9D8B030D-6E8A-4147-A177-3AD203B41FA5}">
                      <a16:colId xmlns:a16="http://schemas.microsoft.com/office/drawing/2014/main" val="834745413"/>
                    </a:ext>
                  </a:extLst>
                </a:gridCol>
                <a:gridCol w="3400927">
                  <a:extLst>
                    <a:ext uri="{9D8B030D-6E8A-4147-A177-3AD203B41FA5}">
                      <a16:colId xmlns:a16="http://schemas.microsoft.com/office/drawing/2014/main" val="827010588"/>
                    </a:ext>
                  </a:extLst>
                </a:gridCol>
              </a:tblGrid>
              <a:tr h="417852">
                <a:tc>
                  <a:txBody>
                    <a:bodyPr/>
                    <a:lstStyle/>
                    <a:p>
                      <a:r>
                        <a:rPr lang="vi-VN" b="1">
                          <a:latin typeface="Calibri" panose="020F0502020204030204" pitchFamily="34" charset="0"/>
                          <a:ea typeface="Calibri" panose="020F0502020204030204" pitchFamily="34" charset="0"/>
                          <a:cs typeface="Calibri" panose="020F0502020204030204" pitchFamily="34" charset="0"/>
                        </a:rPr>
                        <a:t>Tiêu chí</a:t>
                      </a:r>
                      <a:endParaRPr lang="en-US" b="1">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vi-VN" b="1">
                          <a:latin typeface="Calibri" panose="020F0502020204030204" pitchFamily="34" charset="0"/>
                          <a:ea typeface="Calibri" panose="020F0502020204030204" pitchFamily="34" charset="0"/>
                          <a:cs typeface="Calibri" panose="020F0502020204030204" pitchFamily="34" charset="0"/>
                        </a:rPr>
                        <a:t>Công thức</a:t>
                      </a:r>
                      <a:endParaRPr lang="en-US" b="1">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vi-VN" b="1">
                          <a:latin typeface="Calibri" panose="020F0502020204030204" pitchFamily="34" charset="0"/>
                          <a:ea typeface="Calibri" panose="020F0502020204030204" pitchFamily="34" charset="0"/>
                          <a:cs typeface="Calibri" panose="020F0502020204030204" pitchFamily="34" charset="0"/>
                        </a:rPr>
                        <a:t>Ý nghĩa</a:t>
                      </a:r>
                      <a:endParaRPr lang="en-US" b="1">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333695775"/>
                  </a:ext>
                </a:extLst>
              </a:tr>
              <a:tr h="417852">
                <a:tc>
                  <a:txBody>
                    <a:bodyPr/>
                    <a:lstStyle/>
                    <a:p>
                      <a:r>
                        <a:rPr lang="en-US" b="1">
                          <a:latin typeface="Calibri" panose="020F0502020204030204" pitchFamily="34" charset="0"/>
                          <a:ea typeface="Calibri" panose="020F0502020204030204" pitchFamily="34" charset="0"/>
                          <a:cs typeface="Calibri" panose="020F0502020204030204" pitchFamily="34" charset="0"/>
                        </a:rPr>
                        <a:t>Precision@K</a:t>
                      </a:r>
                    </a:p>
                  </a:txBody>
                  <a:tcPr/>
                </a:tc>
                <a:tc>
                  <a:txBody>
                    <a:bodyPr/>
                    <a:lstStyle/>
                    <a:p>
                      <a:r>
                        <a:rPr lang="en-US" b="0">
                          <a:latin typeface="Calibri" panose="020F0502020204030204" pitchFamily="34" charset="0"/>
                          <a:ea typeface="Calibri" panose="020F0502020204030204" pitchFamily="34" charset="0"/>
                          <a:cs typeface="Calibri" panose="020F0502020204030204" pitchFamily="34" charset="0"/>
                        </a:rPr>
                        <a:t>Precision@K=</a:t>
                      </a:r>
                      <a:r>
                        <a:rPr lang="vi-VN" b="0">
                          <a:latin typeface="Calibri" panose="020F0502020204030204" pitchFamily="34" charset="0"/>
                          <a:ea typeface="Calibri" panose="020F0502020204030204" pitchFamily="34" charset="0"/>
                          <a:cs typeface="Calibri" panose="020F0502020204030204" pitchFamily="34" charset="0"/>
                        </a:rPr>
                        <a:t> (số kết quả relevent )</a:t>
                      </a:r>
                    </a:p>
                    <a:p>
                      <a:r>
                        <a:rPr lang="vi-VN" b="0">
                          <a:latin typeface="Calibri" panose="020F0502020204030204" pitchFamily="34" charset="0"/>
                          <a:ea typeface="Calibri" panose="020F0502020204030204" pitchFamily="34" charset="0"/>
                          <a:cs typeface="Calibri" panose="020F0502020204030204" pitchFamily="34" charset="0"/>
                        </a:rPr>
                        <a:t>/ số lần retrieve</a:t>
                      </a:r>
                      <a:endParaRPr lang="en-US" b="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latin typeface="Calibri" panose="020F0502020204030204" pitchFamily="34" charset="0"/>
                          <a:ea typeface="Calibri" panose="020F0502020204030204" pitchFamily="34" charset="0"/>
                          <a:cs typeface="Calibri" panose="020F0502020204030204" pitchFamily="34" charset="0"/>
                        </a:rPr>
                        <a:t>Trong </a:t>
                      </a:r>
                      <a:r>
                        <a:rPr lang="en-US" sz="1800" b="0" kern="1200">
                          <a:solidFill>
                            <a:schemeClr val="dk1"/>
                          </a:solidFill>
                          <a:latin typeface="Calibri" panose="020F0502020204030204" pitchFamily="34" charset="0"/>
                          <a:ea typeface="Calibri" panose="020F0502020204030204" pitchFamily="34" charset="0"/>
                          <a:cs typeface="Calibri" panose="020F0502020204030204" pitchFamily="34" charset="0"/>
                        </a:rPr>
                        <a:t>K</a:t>
                      </a:r>
                      <a:r>
                        <a:rPr lang="en-US" b="0">
                          <a:latin typeface="Calibri" panose="020F0502020204030204" pitchFamily="34" charset="0"/>
                          <a:ea typeface="Calibri" panose="020F0502020204030204" pitchFamily="34" charset="0"/>
                          <a:cs typeface="Calibri" panose="020F0502020204030204" pitchFamily="34" charset="0"/>
                        </a:rPr>
                        <a:t> kết quả được retrieve, có bao nhiêu kết quả là relevant.</a:t>
                      </a:r>
                    </a:p>
                  </a:txBody>
                  <a:tcPr/>
                </a:tc>
                <a:extLst>
                  <a:ext uri="{0D108BD9-81ED-4DB2-BD59-A6C34878D82A}">
                    <a16:rowId xmlns:a16="http://schemas.microsoft.com/office/drawing/2014/main" val="1131672021"/>
                  </a:ext>
                </a:extLst>
              </a:tr>
              <a:tr h="417852">
                <a:tc>
                  <a:txBody>
                    <a:bodyPr/>
                    <a:lstStyle/>
                    <a:p>
                      <a:r>
                        <a:rPr lang="en-US" b="1">
                          <a:latin typeface="Calibri" panose="020F0502020204030204" pitchFamily="34" charset="0"/>
                          <a:ea typeface="Calibri" panose="020F0502020204030204" pitchFamily="34" charset="0"/>
                          <a:cs typeface="Calibri" panose="020F0502020204030204" pitchFamily="34" charset="0"/>
                        </a:rPr>
                        <a:t>Recall@K</a:t>
                      </a:r>
                    </a:p>
                  </a:txBody>
                  <a:tcPr/>
                </a:tc>
                <a:tc>
                  <a:txBody>
                    <a:bodyPr/>
                    <a:lstStyle/>
                    <a:p>
                      <a:r>
                        <a:rPr lang="en-US" b="0">
                          <a:latin typeface="Calibri" panose="020F0502020204030204" pitchFamily="34" charset="0"/>
                          <a:ea typeface="Calibri" panose="020F0502020204030204" pitchFamily="34" charset="0"/>
                          <a:cs typeface="Calibri" panose="020F0502020204030204" pitchFamily="34" charset="0"/>
                        </a:rPr>
                        <a:t>Recall@</a:t>
                      </a:r>
                      <a:r>
                        <a:rPr lang="vi-VN" b="0">
                          <a:latin typeface="Calibri" panose="020F0502020204030204" pitchFamily="34" charset="0"/>
                          <a:ea typeface="Calibri" panose="020F0502020204030204" pitchFamily="34" charset="0"/>
                          <a:cs typeface="Calibri" panose="020F0502020204030204" pitchFamily="34" charset="0"/>
                        </a:rPr>
                        <a:t>K= (số kết quả cần thiết tìm được)/ số kết quả cần thiết</a:t>
                      </a:r>
                      <a:endParaRPr lang="en-US" b="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b="0">
                          <a:latin typeface="Calibri" panose="020F0502020204030204" pitchFamily="34" charset="0"/>
                          <a:ea typeface="Calibri" panose="020F0502020204030204" pitchFamily="34" charset="0"/>
                          <a:cs typeface="Calibri" panose="020F0502020204030204" pitchFamily="34" charset="0"/>
                        </a:rPr>
                        <a:t>Trong tất cả thông tin relevant mà ta biết là cần thiết, hệ thống tìm được bao nhiêu.</a:t>
                      </a:r>
                    </a:p>
                  </a:txBody>
                  <a:tcPr/>
                </a:tc>
                <a:extLst>
                  <a:ext uri="{0D108BD9-81ED-4DB2-BD59-A6C34878D82A}">
                    <a16:rowId xmlns:a16="http://schemas.microsoft.com/office/drawing/2014/main" val="4195881912"/>
                  </a:ext>
                </a:extLst>
              </a:tr>
              <a:tr h="417852">
                <a:tc>
                  <a:txBody>
                    <a:bodyPr/>
                    <a:lstStyle/>
                    <a:p>
                      <a:r>
                        <a:rPr lang="en-US" b="1">
                          <a:latin typeface="Calibri" panose="020F0502020204030204" pitchFamily="34" charset="0"/>
                          <a:ea typeface="Calibri" panose="020F0502020204030204" pitchFamily="34" charset="0"/>
                          <a:cs typeface="Calibri" panose="020F0502020204030204" pitchFamily="34" charset="0"/>
                        </a:rPr>
                        <a:t>MRR</a:t>
                      </a:r>
                    </a:p>
                  </a:txBody>
                  <a:tcPr/>
                </a:tc>
                <a:tc>
                  <a:txBody>
                    <a:bodyPr/>
                    <a:lstStyle/>
                    <a:p>
                      <a:r>
                        <a:rPr lang="vi-VN" b="0">
                          <a:latin typeface="Calibri" panose="020F0502020204030204" pitchFamily="34" charset="0"/>
                          <a:ea typeface="Calibri" panose="020F0502020204030204" pitchFamily="34" charset="0"/>
                          <a:cs typeface="Calibri" panose="020F0502020204030204" pitchFamily="34" charset="0"/>
                        </a:rPr>
                        <a:t>RR=1/(số thứ tự của kết quả relevent đầu tiên)</a:t>
                      </a:r>
                      <a:endParaRPr lang="en-US" b="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b="0">
                          <a:latin typeface="Calibri" panose="020F0502020204030204" pitchFamily="34" charset="0"/>
                          <a:ea typeface="Calibri" panose="020F0502020204030204" pitchFamily="34" charset="0"/>
                          <a:cs typeface="Calibri" panose="020F0502020204030204" pitchFamily="34" charset="0"/>
                        </a:rPr>
                        <a:t>Kết quả đúng có được đưa lên đầu danh sách không?</a:t>
                      </a:r>
                    </a:p>
                  </a:txBody>
                  <a:tcPr/>
                </a:tc>
                <a:extLst>
                  <a:ext uri="{0D108BD9-81ED-4DB2-BD59-A6C34878D82A}">
                    <a16:rowId xmlns:a16="http://schemas.microsoft.com/office/drawing/2014/main" val="1988084089"/>
                  </a:ext>
                </a:extLst>
              </a:tr>
              <a:tr h="417852">
                <a:tc>
                  <a:txBody>
                    <a:bodyPr/>
                    <a:lstStyle/>
                    <a:p>
                      <a:r>
                        <a:rPr lang="en-US" b="1">
                          <a:latin typeface="Calibri" panose="020F0502020204030204" pitchFamily="34" charset="0"/>
                          <a:ea typeface="Calibri" panose="020F0502020204030204" pitchFamily="34" charset="0"/>
                          <a:cs typeface="Calibri" panose="020F0502020204030204" pitchFamily="34" charset="0"/>
                        </a:rPr>
                        <a:t>Context Evaluation</a:t>
                      </a:r>
                    </a:p>
                  </a:txBody>
                  <a:tcPr/>
                </a:tc>
                <a:tc>
                  <a:txBody>
                    <a:bodyPr/>
                    <a:lstStyle/>
                    <a:p>
                      <a:r>
                        <a:rPr lang="en-US" b="0">
                          <a:latin typeface="Calibri" panose="020F0502020204030204" pitchFamily="34" charset="0"/>
                          <a:ea typeface="Calibri" panose="020F0502020204030204" pitchFamily="34" charset="0"/>
                          <a:cs typeface="Calibri" panose="020F0502020204030204" pitchFamily="34" charset="0"/>
                        </a:rPr>
                        <a:t>ContextPrecision=</a:t>
                      </a:r>
                      <a:r>
                        <a:rPr lang="vi-VN" b="0">
                          <a:latin typeface="Calibri" panose="020F0502020204030204" pitchFamily="34" charset="0"/>
                          <a:ea typeface="Calibri" panose="020F0502020204030204" pitchFamily="34" charset="0"/>
                          <a:cs typeface="Calibri" panose="020F0502020204030204" pitchFamily="34" charset="0"/>
                        </a:rPr>
                        <a:t> (số context liên quan)/ số context thu được</a:t>
                      </a:r>
                      <a:endParaRPr lang="en-US" b="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b="0">
                          <a:latin typeface="Calibri" panose="020F0502020204030204" pitchFamily="34" charset="0"/>
                          <a:ea typeface="Calibri" panose="020F0502020204030204" pitchFamily="34" charset="0"/>
                          <a:cs typeface="Calibri" panose="020F0502020204030204" pitchFamily="34" charset="0"/>
                        </a:rPr>
                        <a:t>Context được retrieve có bao nhiêu phần là relevant.</a:t>
                      </a:r>
                    </a:p>
                  </a:txBody>
                  <a:tcPr/>
                </a:tc>
                <a:extLst>
                  <a:ext uri="{0D108BD9-81ED-4DB2-BD59-A6C34878D82A}">
                    <a16:rowId xmlns:a16="http://schemas.microsoft.com/office/drawing/2014/main" val="2438230253"/>
                  </a:ext>
                </a:extLst>
              </a:tr>
              <a:tr h="417852">
                <a:tc>
                  <a:txBody>
                    <a:bodyPr/>
                    <a:lstStyle/>
                    <a:p>
                      <a:r>
                        <a:rPr lang="en-US" b="1">
                          <a:latin typeface="Calibri" panose="020F0502020204030204" pitchFamily="34" charset="0"/>
                          <a:ea typeface="Calibri" panose="020F0502020204030204" pitchFamily="34" charset="0"/>
                          <a:cs typeface="Calibri" panose="020F0502020204030204" pitchFamily="34" charset="0"/>
                        </a:rPr>
                        <a:t>ContextRecall</a:t>
                      </a:r>
                    </a:p>
                  </a:txBody>
                  <a:tcPr/>
                </a:tc>
                <a:tc>
                  <a:txBody>
                    <a:bodyPr/>
                    <a:lstStyle/>
                    <a:p>
                      <a:r>
                        <a:rPr lang="en-US" b="0">
                          <a:latin typeface="Calibri" panose="020F0502020204030204" pitchFamily="34" charset="0"/>
                          <a:ea typeface="Calibri" panose="020F0502020204030204" pitchFamily="34" charset="0"/>
                          <a:cs typeface="Calibri" panose="020F0502020204030204" pitchFamily="34" charset="0"/>
                        </a:rPr>
                        <a:t>Con</a:t>
                      </a:r>
                      <a:r>
                        <a:rPr lang="vi-VN" b="0">
                          <a:latin typeface="Calibri" panose="020F0502020204030204" pitchFamily="34" charset="0"/>
                          <a:ea typeface="Calibri" panose="020F0502020204030204" pitchFamily="34" charset="0"/>
                          <a:cs typeface="Calibri" panose="020F0502020204030204" pitchFamily="34" charset="0"/>
                        </a:rPr>
                        <a:t>textRecall=(thông tin liên quan thu được)/ (tổng số thông tin liên quan)</a:t>
                      </a:r>
                      <a:endParaRPr lang="en-US" b="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b="0">
                          <a:latin typeface="Calibri" panose="020F0502020204030204" pitchFamily="34" charset="0"/>
                          <a:ea typeface="Calibri" panose="020F0502020204030204" pitchFamily="34" charset="0"/>
                          <a:cs typeface="Calibri" panose="020F0502020204030204" pitchFamily="34" charset="0"/>
                        </a:rPr>
                        <a:t>Context có chứa đủ thông tin cần thiết để trả lời không.</a:t>
                      </a:r>
                    </a:p>
                  </a:txBody>
                  <a:tcPr/>
                </a:tc>
                <a:extLst>
                  <a:ext uri="{0D108BD9-81ED-4DB2-BD59-A6C34878D82A}">
                    <a16:rowId xmlns:a16="http://schemas.microsoft.com/office/drawing/2014/main" val="2738746370"/>
                  </a:ext>
                </a:extLst>
              </a:tr>
            </a:tbl>
          </a:graphicData>
        </a:graphic>
      </p:graphicFrame>
    </p:spTree>
    <p:extLst>
      <p:ext uri="{BB962C8B-B14F-4D97-AF65-F5344CB8AC3E}">
        <p14:creationId xmlns:p14="http://schemas.microsoft.com/office/powerpoint/2010/main" val="2909095075"/>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1CCFA-4F39-ADE6-5F09-DEE035C92FE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D38459D-1A3B-76CB-E99A-084E3957D543}"/>
              </a:ext>
            </a:extLst>
          </p:cNvPr>
          <p:cNvSpPr>
            <a:spLocks noGrp="1"/>
          </p:cNvSpPr>
          <p:nvPr>
            <p:ph type="sldNum" sz="quarter" idx="12"/>
          </p:nvPr>
        </p:nvSpPr>
        <p:spPr/>
        <p:txBody>
          <a:bodyPr/>
          <a:lstStyle/>
          <a:p>
            <a:fld id="{9EA0BE3B-158A-4EDF-80DC-E394A0D1600F}" type="slidenum">
              <a:rPr lang="en-US" smtClean="0"/>
              <a:pPr/>
              <a:t>23</a:t>
            </a:fld>
            <a:endParaRPr lang="en-US"/>
          </a:p>
        </p:txBody>
      </p:sp>
      <p:sp>
        <p:nvSpPr>
          <p:cNvPr id="3" name="Title 2">
            <a:extLst>
              <a:ext uri="{FF2B5EF4-FFF2-40B4-BE49-F238E27FC236}">
                <a16:creationId xmlns:a16="http://schemas.microsoft.com/office/drawing/2014/main" id="{22B641F7-0A0C-2D9F-97A0-10355A797726}"/>
              </a:ext>
            </a:extLst>
          </p:cNvPr>
          <p:cNvSpPr>
            <a:spLocks noGrp="1"/>
          </p:cNvSpPr>
          <p:nvPr>
            <p:ph type="title"/>
          </p:nvPr>
        </p:nvSpPr>
        <p:spPr/>
        <p:txBody>
          <a:bodyPr/>
          <a:lstStyle/>
          <a:p>
            <a:r>
              <a:rPr lang="vi-VN"/>
              <a:t>Graph RAG </a:t>
            </a:r>
            <a:r>
              <a:rPr lang="en-US"/>
              <a:t>Evaluation</a:t>
            </a:r>
          </a:p>
        </p:txBody>
      </p:sp>
      <p:graphicFrame>
        <p:nvGraphicFramePr>
          <p:cNvPr id="5" name="Table 4">
            <a:extLst>
              <a:ext uri="{FF2B5EF4-FFF2-40B4-BE49-F238E27FC236}">
                <a16:creationId xmlns:a16="http://schemas.microsoft.com/office/drawing/2014/main" id="{6DEA9A53-0594-0FC9-D1D9-D4017FF7ACFB}"/>
              </a:ext>
            </a:extLst>
          </p:cNvPr>
          <p:cNvGraphicFramePr>
            <a:graphicFrameLocks noGrp="1"/>
          </p:cNvGraphicFramePr>
          <p:nvPr>
            <p:extLst>
              <p:ext uri="{D42A27DB-BD31-4B8C-83A1-F6EECF244321}">
                <p14:modId xmlns:p14="http://schemas.microsoft.com/office/powerpoint/2010/main" val="4175797355"/>
              </p:ext>
            </p:extLst>
          </p:nvPr>
        </p:nvGraphicFramePr>
        <p:xfrm>
          <a:off x="291225" y="986589"/>
          <a:ext cx="8315365" cy="4806972"/>
        </p:xfrm>
        <a:graphic>
          <a:graphicData uri="http://schemas.openxmlformats.org/drawingml/2006/table">
            <a:tbl>
              <a:tblPr firstRow="1" bandRow="1">
                <a:tableStyleId>{5C22544A-7EE6-4342-B048-85BDC9FD1C3A}</a:tableStyleId>
              </a:tblPr>
              <a:tblGrid>
                <a:gridCol w="1830364">
                  <a:extLst>
                    <a:ext uri="{9D8B030D-6E8A-4147-A177-3AD203B41FA5}">
                      <a16:colId xmlns:a16="http://schemas.microsoft.com/office/drawing/2014/main" val="530056167"/>
                    </a:ext>
                  </a:extLst>
                </a:gridCol>
                <a:gridCol w="3084074">
                  <a:extLst>
                    <a:ext uri="{9D8B030D-6E8A-4147-A177-3AD203B41FA5}">
                      <a16:colId xmlns:a16="http://schemas.microsoft.com/office/drawing/2014/main" val="834745413"/>
                    </a:ext>
                  </a:extLst>
                </a:gridCol>
                <a:gridCol w="3400927">
                  <a:extLst>
                    <a:ext uri="{9D8B030D-6E8A-4147-A177-3AD203B41FA5}">
                      <a16:colId xmlns:a16="http://schemas.microsoft.com/office/drawing/2014/main" val="827010588"/>
                    </a:ext>
                  </a:extLst>
                </a:gridCol>
              </a:tblGrid>
              <a:tr h="417852">
                <a:tc>
                  <a:txBody>
                    <a:bodyPr/>
                    <a:lstStyle/>
                    <a:p>
                      <a:r>
                        <a:rPr lang="vi-VN" b="1"/>
                        <a:t>Tiêu chí</a:t>
                      </a:r>
                      <a:endParaRPr lang="en-US" b="1"/>
                    </a:p>
                  </a:txBody>
                  <a:tcPr/>
                </a:tc>
                <a:tc>
                  <a:txBody>
                    <a:bodyPr/>
                    <a:lstStyle/>
                    <a:p>
                      <a:r>
                        <a:rPr lang="vi-VN" b="1"/>
                        <a:t>Công thức</a:t>
                      </a:r>
                      <a:endParaRPr lang="en-US" b="1"/>
                    </a:p>
                  </a:txBody>
                  <a:tcPr/>
                </a:tc>
                <a:tc>
                  <a:txBody>
                    <a:bodyPr/>
                    <a:lstStyle/>
                    <a:p>
                      <a:r>
                        <a:rPr lang="vi-VN" b="1"/>
                        <a:t>Ý nghĩa</a:t>
                      </a:r>
                      <a:endParaRPr lang="en-US" b="1"/>
                    </a:p>
                  </a:txBody>
                  <a:tcPr/>
                </a:tc>
                <a:extLst>
                  <a:ext uri="{0D108BD9-81ED-4DB2-BD59-A6C34878D82A}">
                    <a16:rowId xmlns:a16="http://schemas.microsoft.com/office/drawing/2014/main" val="3333695775"/>
                  </a:ext>
                </a:extLst>
              </a:tr>
              <a:tr h="417852">
                <a:tc>
                  <a:txBody>
                    <a:bodyPr/>
                    <a:lstStyle/>
                    <a:p>
                      <a:r>
                        <a:rPr lang="en-US" b="1"/>
                        <a:t>Context Relevance</a:t>
                      </a:r>
                    </a:p>
                  </a:txBody>
                  <a:tcPr/>
                </a:tc>
                <a:tc>
                  <a:txBody>
                    <a:bodyPr/>
                    <a:lstStyle/>
                    <a:p>
                      <a:r>
                        <a:rPr lang="vi-VN" b="0"/>
                        <a:t>Human/LLM judge</a:t>
                      </a:r>
                      <a:endParaRPr lang="en-US" b="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t>Context được retrieve có liên quan trực tiếp đến câu hỏi không</a:t>
                      </a:r>
                    </a:p>
                  </a:txBody>
                  <a:tcPr/>
                </a:tc>
                <a:extLst>
                  <a:ext uri="{0D108BD9-81ED-4DB2-BD59-A6C34878D82A}">
                    <a16:rowId xmlns:a16="http://schemas.microsoft.com/office/drawing/2014/main" val="1131672021"/>
                  </a:ext>
                </a:extLst>
              </a:tr>
              <a:tr h="417852">
                <a:tc>
                  <a:txBody>
                    <a:bodyPr/>
                    <a:lstStyle/>
                    <a:p>
                      <a:r>
                        <a:rPr lang="en-US" b="1"/>
                        <a:t>Context Sufficiency</a:t>
                      </a:r>
                    </a:p>
                  </a:txBody>
                  <a:tcPr/>
                </a:tc>
                <a:tc>
                  <a:txBody>
                    <a:bodyPr/>
                    <a:lstStyle/>
                    <a:p>
                      <a:r>
                        <a:rPr lang="vi-VN" b="0"/>
                        <a:t>Human/LLM judge</a:t>
                      </a:r>
                      <a:endParaRPr lang="en-US" b="0"/>
                    </a:p>
                  </a:txBody>
                  <a:tcPr/>
                </a:tc>
                <a:tc>
                  <a:txBody>
                    <a:bodyPr/>
                    <a:lstStyle/>
                    <a:p>
                      <a:r>
                        <a:rPr lang="en-US" b="0"/>
                        <a:t>Context có đủ thông tin để trả lời câu hỏi hay chưa</a:t>
                      </a:r>
                    </a:p>
                  </a:txBody>
                  <a:tcPr/>
                </a:tc>
                <a:extLst>
                  <a:ext uri="{0D108BD9-81ED-4DB2-BD59-A6C34878D82A}">
                    <a16:rowId xmlns:a16="http://schemas.microsoft.com/office/drawing/2014/main" val="4195881912"/>
                  </a:ext>
                </a:extLst>
              </a:tr>
              <a:tr h="417852">
                <a:tc>
                  <a:txBody>
                    <a:bodyPr/>
                    <a:lstStyle/>
                    <a:p>
                      <a:r>
                        <a:rPr lang="en-US" b="1"/>
                        <a:t>Exact Match</a:t>
                      </a:r>
                      <a:r>
                        <a:rPr lang="vi-VN" b="1"/>
                        <a:t> - EM</a:t>
                      </a:r>
                      <a:endParaRPr lang="en-US" b="1"/>
                    </a:p>
                  </a:txBody>
                  <a:tcPr/>
                </a:tc>
                <a:tc>
                  <a:txBody>
                    <a:bodyPr/>
                    <a:lstStyle/>
                    <a:p>
                      <a:r>
                        <a:rPr lang="vi-VN" b="0"/>
                        <a:t>If(</a:t>
                      </a:r>
                      <a:r>
                        <a:rPr lang="en-US" b="0"/>
                        <a:t>prediction = ground truthotherwise​</a:t>
                      </a:r>
                      <a:r>
                        <a:rPr lang="vi-VN" b="0"/>
                        <a:t>)</a:t>
                      </a:r>
                      <a:r>
                        <a:rPr lang="en-US" b="0"/>
                        <a:t>​ </a:t>
                      </a:r>
                      <a:r>
                        <a:rPr lang="vi-VN" b="0"/>
                        <a:t>EM=1;</a:t>
                      </a:r>
                    </a:p>
                    <a:p>
                      <a:r>
                        <a:rPr lang="vi-VN" b="0"/>
                        <a:t>Else EM=0;</a:t>
                      </a:r>
                      <a:endParaRPr lang="en-US" b="0"/>
                    </a:p>
                  </a:txBody>
                  <a:tcPr/>
                </a:tc>
                <a:tc>
                  <a:txBody>
                    <a:bodyPr/>
                    <a:lstStyle/>
                    <a:p>
                      <a:r>
                        <a:rPr lang="en-US" b="0"/>
                        <a:t>Model có trả lời chính xác theo đáp án chuẩn không</a:t>
                      </a:r>
                    </a:p>
                  </a:txBody>
                  <a:tcPr/>
                </a:tc>
                <a:extLst>
                  <a:ext uri="{0D108BD9-81ED-4DB2-BD59-A6C34878D82A}">
                    <a16:rowId xmlns:a16="http://schemas.microsoft.com/office/drawing/2014/main" val="1988084089"/>
                  </a:ext>
                </a:extLst>
              </a:tr>
              <a:tr h="417852">
                <a:tc>
                  <a:txBody>
                    <a:bodyPr/>
                    <a:lstStyle/>
                    <a:p>
                      <a:r>
                        <a:rPr lang="en-US" b="1"/>
                        <a:t>Answer F1</a:t>
                      </a:r>
                    </a:p>
                  </a:txBody>
                  <a:tcPr/>
                </a:tc>
                <a:tc>
                  <a:txBody>
                    <a:bodyPr/>
                    <a:lstStyle/>
                    <a:p>
                      <a:r>
                        <a:rPr lang="vi-VN" b="0"/>
                        <a:t>F1= 2.(Precision x recall)/(precision+recall)</a:t>
                      </a:r>
                      <a:endParaRPr lang="en-US" b="0"/>
                    </a:p>
                  </a:txBody>
                  <a:tcPr/>
                </a:tc>
                <a:tc>
                  <a:txBody>
                    <a:bodyPr/>
                    <a:lstStyle/>
                    <a:p>
                      <a:r>
                        <a:rPr lang="en-US" b="0"/>
                        <a:t>Model có trả lời đúng nội dung cần thiết không</a:t>
                      </a:r>
                    </a:p>
                  </a:txBody>
                  <a:tcPr/>
                </a:tc>
                <a:extLst>
                  <a:ext uri="{0D108BD9-81ED-4DB2-BD59-A6C34878D82A}">
                    <a16:rowId xmlns:a16="http://schemas.microsoft.com/office/drawing/2014/main" val="2438230253"/>
                  </a:ext>
                </a:extLst>
              </a:tr>
              <a:tr h="417852">
                <a:tc>
                  <a:txBody>
                    <a:bodyPr/>
                    <a:lstStyle/>
                    <a:p>
                      <a:r>
                        <a:rPr lang="en-US" b="1"/>
                        <a:t>Faithfulness</a:t>
                      </a:r>
                    </a:p>
                  </a:txBody>
                  <a:tcPr/>
                </a:tc>
                <a:tc>
                  <a:txBody>
                    <a:bodyPr/>
                    <a:lstStyle/>
                    <a:p>
                      <a:r>
                        <a:rPr lang="en-US" b="0"/>
                        <a:t>Fa</a:t>
                      </a:r>
                      <a:r>
                        <a:rPr lang="vi-VN" b="0"/>
                        <a:t>ithfulness=(các khẳng định có context)/ (tất cả các khẳng định)</a:t>
                      </a:r>
                      <a:endParaRPr lang="en-US" b="0"/>
                    </a:p>
                  </a:txBody>
                  <a:tcPr/>
                </a:tc>
                <a:tc>
                  <a:txBody>
                    <a:bodyPr/>
                    <a:lstStyle/>
                    <a:p>
                      <a:r>
                        <a:rPr lang="en-US" b="0"/>
                        <a:t>Câu trả lời có được hỗ trợ bởi context hay model tự bịa thêm không</a:t>
                      </a:r>
                    </a:p>
                  </a:txBody>
                  <a:tcPr/>
                </a:tc>
                <a:extLst>
                  <a:ext uri="{0D108BD9-81ED-4DB2-BD59-A6C34878D82A}">
                    <a16:rowId xmlns:a16="http://schemas.microsoft.com/office/drawing/2014/main" val="2738746370"/>
                  </a:ext>
                </a:extLst>
              </a:tr>
              <a:tr h="417852">
                <a:tc>
                  <a:txBody>
                    <a:bodyPr/>
                    <a:lstStyle/>
                    <a:p>
                      <a:r>
                        <a:rPr lang="en-US" b="1"/>
                        <a:t>Answer Relevance</a:t>
                      </a:r>
                    </a:p>
                  </a:txBody>
                  <a:tcPr/>
                </a:tc>
                <a:tc>
                  <a:txBody>
                    <a:bodyPr/>
                    <a:lstStyle/>
                    <a:p>
                      <a:r>
                        <a:rPr lang="vi-VN" b="0"/>
                        <a:t>Human/LLM judge</a:t>
                      </a:r>
                      <a:endParaRPr lang="en-US" b="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t>Câu trả lời có trả lời đúng câu hỏi không</a:t>
                      </a:r>
                    </a:p>
                  </a:txBody>
                  <a:tcPr/>
                </a:tc>
                <a:extLst>
                  <a:ext uri="{0D108BD9-81ED-4DB2-BD59-A6C34878D82A}">
                    <a16:rowId xmlns:a16="http://schemas.microsoft.com/office/drawing/2014/main" val="2875511723"/>
                  </a:ext>
                </a:extLst>
              </a:tr>
            </a:tbl>
          </a:graphicData>
        </a:graphic>
      </p:graphicFrame>
    </p:spTree>
    <p:extLst>
      <p:ext uri="{BB962C8B-B14F-4D97-AF65-F5344CB8AC3E}">
        <p14:creationId xmlns:p14="http://schemas.microsoft.com/office/powerpoint/2010/main" val="351012437"/>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24</a:t>
            </a:fld>
            <a:endParaRPr lang="en-US"/>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a:t>THANK YOU !</a:t>
            </a:r>
          </a:p>
        </p:txBody>
      </p:sp>
    </p:spTree>
    <p:extLst>
      <p:ext uri="{BB962C8B-B14F-4D97-AF65-F5344CB8AC3E}">
        <p14:creationId xmlns:p14="http://schemas.microsoft.com/office/powerpoint/2010/main" val="28305356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4589</TotalTime>
  <Words>1328</Words>
  <Application>Microsoft Office PowerPoint</Application>
  <PresentationFormat>On-screen Show (4:3)</PresentationFormat>
  <Paragraphs>183</Paragraphs>
  <Slides>24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cal</vt:lpstr>
      <vt:lpstr>Arial</vt:lpstr>
      <vt:lpstr>Calibri</vt:lpstr>
      <vt:lpstr>Calibri Light</vt:lpstr>
      <vt:lpstr>Cambria Math</vt:lpstr>
      <vt:lpstr>Lato</vt:lpstr>
      <vt:lpstr>Times New Roman</vt:lpstr>
      <vt:lpstr>Office Theme</vt:lpstr>
      <vt:lpstr>PowerPoint Presentation</vt:lpstr>
      <vt:lpstr>PowerPoint Presentation</vt:lpstr>
      <vt:lpstr>Mục lục </vt:lpstr>
      <vt:lpstr>Recap</vt:lpstr>
      <vt:lpstr>PowerPoint Presentation</vt:lpstr>
      <vt:lpstr>PowerPoint Presentation</vt:lpstr>
      <vt:lpstr>PowerPoint Presentation</vt:lpstr>
      <vt:lpstr>PowerPoint Presentation</vt:lpstr>
      <vt:lpstr>PowerPoint Presentation</vt:lpstr>
      <vt:lpstr>PowerPoint Presentation</vt:lpstr>
      <vt:lpstr>Knowledge graphs</vt:lpstr>
      <vt:lpstr>Knowledge graphs</vt:lpstr>
      <vt:lpstr>Knowledge graphs construction pipeline </vt:lpstr>
      <vt:lpstr>RESULT</vt:lpstr>
      <vt:lpstr>Retrieval-Augmented Generation</vt:lpstr>
      <vt:lpstr>Hạn chế của Standard RAG</vt:lpstr>
      <vt:lpstr>Graph RAG</vt:lpstr>
      <vt:lpstr>Standard Vector RAG vs. Graph RAG</vt:lpstr>
      <vt:lpstr>Pipeline của Graph RAG</vt:lpstr>
      <vt:lpstr>Hai phương pháp Retrieval chính trong Graph RAG</vt:lpstr>
      <vt:lpstr>Graph RAG Evaluation</vt:lpstr>
      <vt:lpstr>Graph RAG Evaluation</vt:lpstr>
      <vt:lpstr>Graph RAG Evaluation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Vu Sinh Hung 202417128</cp:lastModifiedBy>
  <cp:revision>25</cp:revision>
  <dcterms:created xsi:type="dcterms:W3CDTF">2021-05-28T04:32:29Z</dcterms:created>
  <dcterms:modified xsi:type="dcterms:W3CDTF">2026-08-26T15:24:27Z</dcterms:modified>
</cp:coreProperties>
</file>